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6" r:id="rId4"/>
    <p:sldMasterId id="2147483681" r:id="rId5"/>
    <p:sldMasterId id="2147483682" r:id="rId6"/>
    <p:sldMasterId id="2147483705" r:id="rId7"/>
    <p:sldMasterId id="2147483717" r:id="rId8"/>
    <p:sldMasterId id="2147483727" r:id="rId9"/>
  </p:sldMasterIdLst>
  <p:notesMasterIdLst>
    <p:notesMasterId r:id="rId43"/>
  </p:notesMasterIdLst>
  <p:handoutMasterIdLst>
    <p:handoutMasterId r:id="rId44"/>
  </p:handoutMasterIdLst>
  <p:sldIdLst>
    <p:sldId id="256" r:id="rId10"/>
    <p:sldId id="272" r:id="rId11"/>
    <p:sldId id="651" r:id="rId12"/>
    <p:sldId id="653" r:id="rId13"/>
    <p:sldId id="617" r:id="rId14"/>
    <p:sldId id="620" r:id="rId15"/>
    <p:sldId id="618" r:id="rId16"/>
    <p:sldId id="619" r:id="rId17"/>
    <p:sldId id="622" r:id="rId18"/>
    <p:sldId id="624" r:id="rId19"/>
    <p:sldId id="626" r:id="rId20"/>
    <p:sldId id="627" r:id="rId21"/>
    <p:sldId id="630" r:id="rId22"/>
    <p:sldId id="631" r:id="rId23"/>
    <p:sldId id="634" r:id="rId24"/>
    <p:sldId id="659" r:id="rId25"/>
    <p:sldId id="635" r:id="rId26"/>
    <p:sldId id="654" r:id="rId27"/>
    <p:sldId id="655" r:id="rId28"/>
    <p:sldId id="637" r:id="rId29"/>
    <p:sldId id="638" r:id="rId30"/>
    <p:sldId id="639" r:id="rId31"/>
    <p:sldId id="640" r:id="rId32"/>
    <p:sldId id="644" r:id="rId33"/>
    <p:sldId id="645" r:id="rId34"/>
    <p:sldId id="646" r:id="rId35"/>
    <p:sldId id="647" r:id="rId36"/>
    <p:sldId id="656" r:id="rId37"/>
    <p:sldId id="657" r:id="rId38"/>
    <p:sldId id="658" r:id="rId39"/>
    <p:sldId id="444" r:id="rId40"/>
    <p:sldId id="501" r:id="rId41"/>
    <p:sldId id="535" r:id="rId42"/>
  </p:sldIdLst>
  <p:sldSz cx="17348200" cy="9753600"/>
  <p:notesSz cx="17348200" cy="97536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lantilla Mónica" id="{F4B71B13-57B0-438A-BCD6-AB793858347A}">
          <p14:sldIdLst>
            <p14:sldId id="256"/>
          </p14:sldIdLst>
        </p14:section>
        <p14:section name="Presentación" id="{3E915ABC-F4E4-4F24-A3FF-783115428305}">
          <p14:sldIdLst>
            <p14:sldId id="272"/>
            <p14:sldId id="651"/>
            <p14:sldId id="653"/>
            <p14:sldId id="617"/>
            <p14:sldId id="620"/>
            <p14:sldId id="618"/>
            <p14:sldId id="619"/>
            <p14:sldId id="622"/>
            <p14:sldId id="624"/>
            <p14:sldId id="626"/>
            <p14:sldId id="627"/>
            <p14:sldId id="630"/>
            <p14:sldId id="631"/>
            <p14:sldId id="634"/>
            <p14:sldId id="659"/>
            <p14:sldId id="635"/>
            <p14:sldId id="654"/>
            <p14:sldId id="655"/>
            <p14:sldId id="637"/>
            <p14:sldId id="638"/>
            <p14:sldId id="639"/>
            <p14:sldId id="640"/>
            <p14:sldId id="644"/>
            <p14:sldId id="645"/>
            <p14:sldId id="646"/>
            <p14:sldId id="647"/>
            <p14:sldId id="656"/>
            <p14:sldId id="657"/>
            <p14:sldId id="658"/>
            <p14:sldId id="444"/>
            <p14:sldId id="501"/>
            <p14:sldId id="5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68" userDrawn="1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trid Johanna Bernal Rueda" initials="AR" lastIdx="2" clrIdx="0">
    <p:extLst>
      <p:ext uri="{19B8F6BF-5375-455C-9EA6-DF929625EA0E}">
        <p15:presenceInfo xmlns:p15="http://schemas.microsoft.com/office/powerpoint/2012/main" userId="S::aj.bernal218@uniandes.edu.co::f8d8b721-92e6-4132-af81-e30a7a32d8a1" providerId="AD"/>
      </p:ext>
    </p:extLst>
  </p:cmAuthor>
  <p:cmAuthor id="2" name="Grace Natalia Tellez Barbosa" initials="GNTB" lastIdx="5" clrIdx="1">
    <p:extLst>
      <p:ext uri="{19B8F6BF-5375-455C-9EA6-DF929625EA0E}">
        <p15:presenceInfo xmlns:p15="http://schemas.microsoft.com/office/powerpoint/2012/main" userId="Grace Natalia Tellez Barbosa" providerId="None"/>
      </p:ext>
    </p:extLst>
  </p:cmAuthor>
  <p:cmAuthor id="3" name=" " initials="" lastIdx="5" clrIdx="2">
    <p:extLst>
      <p:ext uri="{19B8F6BF-5375-455C-9EA6-DF929625EA0E}">
        <p15:presenceInfo xmlns:p15="http://schemas.microsoft.com/office/powerpoint/2012/main" userId=" " providerId="None"/>
      </p:ext>
    </p:extLst>
  </p:cmAuthor>
  <p:cmAuthor id="4" name="Mario Castillo Hernandez" initials="MCH" lastIdx="4" clrIdx="3">
    <p:extLst>
      <p:ext uri="{19B8F6BF-5375-455C-9EA6-DF929625EA0E}">
        <p15:presenceInfo xmlns:p15="http://schemas.microsoft.com/office/powerpoint/2012/main" userId="S::mcastill@uniandes.edu.co::70730fa2-ba8b-4977-a835-b94ee4c7ef4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51E"/>
    <a:srgbClr val="652B90"/>
    <a:srgbClr val="7E3E7E"/>
    <a:srgbClr val="AD6058"/>
    <a:srgbClr val="B66652"/>
    <a:srgbClr val="83417A"/>
    <a:srgbClr val="D2E4FE"/>
    <a:srgbClr val="985169"/>
    <a:srgbClr val="682E8F"/>
    <a:srgbClr val="F9D8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3"/>
    <p:restoredTop sz="96253" autoAdjust="0"/>
  </p:normalViewPr>
  <p:slideViewPr>
    <p:cSldViewPr snapToGrid="0">
      <p:cViewPr varScale="1">
        <p:scale>
          <a:sx n="92" d="100"/>
          <a:sy n="92" d="100"/>
        </p:scale>
        <p:origin x="1856" y="472"/>
      </p:cViewPr>
      <p:guideLst>
        <p:guide orient="horz" pos="2868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presProps" Target="presProps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9C6E268-C674-284F-B90B-94407D46A9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Nombre del curso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EF9596-94BD-0F49-84D5-C52507E389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9826625" y="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AA684-5D0D-F54D-800B-F4D1802825A8}" type="datetimeFigureOut">
              <a:rPr lang="es-CO" smtClean="0"/>
              <a:t>27/03/26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ED37C21-C3EC-9E44-8C9F-4423CB8B28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26465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B708FE-8F67-0247-98A6-2E9AF20FA8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9826625" y="926465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22C562-159C-F346-BE6A-B9A8D4F401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199631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Nombre del curso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9826625" y="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E6A68-FD75-914C-BF49-DB2BD8ECE5A3}" type="datetimeFigureOut">
              <a:rPr lang="es-CO" smtClean="0"/>
              <a:t>27/03/26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0" y="1219200"/>
            <a:ext cx="585470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735138" y="4694238"/>
            <a:ext cx="138779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9826625" y="926465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5542A-BED4-5344-89E6-39E64CE308B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814273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>
                <a:latin typeface="Calibri" panose="020F0502020204030204" pitchFamily="34" charset="0"/>
                <a:cs typeface="Times New Roman" panose="02020603050405020304" pitchFamily="18" charset="0"/>
              </a:rPr>
              <a:t>En este video vamos a presentar un ejemplo ilustrativo sobre la construcción de un modelos de simulación de Monte Carlo en </a:t>
            </a:r>
            <a:r>
              <a:rPr lang="es-CO" dirty="0" err="1">
                <a:latin typeface="Calibri" panose="020F0502020204030204" pitchFamily="34" charset="0"/>
                <a:cs typeface="Times New Roman" panose="02020603050405020304" pitchFamily="18" charset="0"/>
              </a:rPr>
              <a:t>Crystal</a:t>
            </a:r>
            <a:r>
              <a:rPr lang="es-CO" dirty="0">
                <a:latin typeface="Calibri" panose="020F0502020204030204" pitchFamily="34" charset="0"/>
                <a:cs typeface="Times New Roman" panose="02020603050405020304" pitchFamily="18" charset="0"/>
              </a:rPr>
              <a:t> Ball, con base en </a:t>
            </a:r>
            <a:r>
              <a:rPr lang="es-ES_tradnl" dirty="0">
                <a:latin typeface="Calibri" panose="020F0502020204030204" pitchFamily="34" charset="0"/>
                <a:cs typeface="Times New Roman" panose="02020603050405020304" pitchFamily="18" charset="0"/>
              </a:rPr>
              <a:t>una guía para estructurar y analizar un problema de decisión con base en herramientas de simulación probabilística.</a:t>
            </a:r>
          </a:p>
          <a:p>
            <a:endParaRPr lang="es-CO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s-CO"/>
              <a:t>Nombre del curso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5542A-BED4-5344-89E6-39E64CE308B1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618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ENFATIZAR QUE EL ÚNICO CANAL DE COMUNICACIÓN ES EL CORREO solicitudes-miad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BE85C-BD54-4B30-81A6-E9E18A763B70}" type="slidenum">
              <a:rPr lang="es-CO" smtClean="0"/>
              <a:t>32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3416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5A7D39E3-2411-1041-84B6-17A1DD01BCBD}"/>
              </a:ext>
            </a:extLst>
          </p:cNvPr>
          <p:cNvSpPr/>
          <p:nvPr userDrawn="1"/>
        </p:nvSpPr>
        <p:spPr>
          <a:xfrm>
            <a:off x="0" y="0"/>
            <a:ext cx="17348200" cy="9734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880EFF-90C6-FE48-A1EA-51EB13824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8525" y="3228788"/>
            <a:ext cx="13011150" cy="17639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3F50FD-DC08-5140-A4D1-C801A9CA5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9699" y="5122863"/>
            <a:ext cx="9241235" cy="1190532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64BC35-D18F-C84F-84C6-A2E9AD29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CF7541-EFD1-494D-985E-6CB9C9CB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A7EF88C-1EC0-B94A-BE51-EC8901F73648}"/>
              </a:ext>
            </a:extLst>
          </p:cNvPr>
          <p:cNvSpPr/>
          <p:nvPr userDrawn="1"/>
        </p:nvSpPr>
        <p:spPr>
          <a:xfrm>
            <a:off x="3949700" y="3056219"/>
            <a:ext cx="9241234" cy="28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5641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B65C5-CC1E-6F4E-88AB-F4FD3BF3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213" y="1341521"/>
            <a:ext cx="14963775" cy="106354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07063-710F-B54B-8806-2C66D272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1900" y="2667000"/>
            <a:ext cx="13654088" cy="61182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84FDDE-4647-D748-AB06-B1EBAEB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C5763-B804-7540-ADB6-CEE7F6D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5E3F7E-EE8A-344F-86DF-3E1493EA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object 16">
            <a:extLst>
              <a:ext uri="{FF2B5EF4-FFF2-40B4-BE49-F238E27FC236}">
                <a16:creationId xmlns:a16="http://schemas.microsoft.com/office/drawing/2014/main" id="{FCF48A0B-9BBF-EF40-8DB1-C75A0DFBB9FC}"/>
              </a:ext>
            </a:extLst>
          </p:cNvPr>
          <p:cNvSpPr/>
          <p:nvPr userDrawn="1"/>
        </p:nvSpPr>
        <p:spPr>
          <a:xfrm>
            <a:off x="2501900" y="2514600"/>
            <a:ext cx="3698240" cy="0"/>
          </a:xfrm>
          <a:custGeom>
            <a:avLst/>
            <a:gdLst/>
            <a:ahLst/>
            <a:cxnLst/>
            <a:rect l="l" t="t" r="r" b="b"/>
            <a:pathLst>
              <a:path w="3698240">
                <a:moveTo>
                  <a:pt x="0" y="0"/>
                </a:moveTo>
                <a:lnTo>
                  <a:pt x="3697732" y="0"/>
                </a:lnTo>
              </a:path>
            </a:pathLst>
          </a:custGeom>
          <a:ln w="25400">
            <a:solidFill>
              <a:srgbClr val="F793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313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C9309B89-4ED5-AA49-9802-FEAB4CE7114F}"/>
              </a:ext>
            </a:extLst>
          </p:cNvPr>
          <p:cNvSpPr/>
          <p:nvPr userDrawn="1"/>
        </p:nvSpPr>
        <p:spPr>
          <a:xfrm>
            <a:off x="0" y="1917687"/>
            <a:ext cx="17272368" cy="1752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F42F40-B4EF-ED45-9E14-8191A8E6D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75" y="4354513"/>
            <a:ext cx="14962188" cy="1816466"/>
          </a:xfrm>
          <a:prstGeom prst="rect">
            <a:avLst/>
          </a:prstGeom>
        </p:spPr>
        <p:txBody>
          <a:bodyPr anchor="ctr" anchorCtr="1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061EFF-6FC8-8F45-928F-918143BF5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4275" y="6527800"/>
            <a:ext cx="14962188" cy="21336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F46A54-68A9-F443-B652-4A84DA49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9B3871-8DFB-6046-9535-1B871D2EF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7B3C3F-F92D-FA4D-9764-3540C708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F1F76395-B36B-264C-995D-395AEE90D725}"/>
              </a:ext>
            </a:extLst>
          </p:cNvPr>
          <p:cNvSpPr/>
          <p:nvPr userDrawn="1"/>
        </p:nvSpPr>
        <p:spPr>
          <a:xfrm>
            <a:off x="4102100" y="4121133"/>
            <a:ext cx="9241234" cy="25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9">
            <a:extLst>
              <a:ext uri="{FF2B5EF4-FFF2-40B4-BE49-F238E27FC236}">
                <a16:creationId xmlns:a16="http://schemas.microsoft.com/office/drawing/2014/main" id="{0C9D6371-2DDB-FC47-838F-C03981A3D248}"/>
              </a:ext>
            </a:extLst>
          </p:cNvPr>
          <p:cNvSpPr/>
          <p:nvPr userDrawn="1"/>
        </p:nvSpPr>
        <p:spPr>
          <a:xfrm>
            <a:off x="0" y="1917700"/>
            <a:ext cx="17348200" cy="1752600"/>
          </a:xfrm>
          <a:custGeom>
            <a:avLst/>
            <a:gdLst/>
            <a:ahLst/>
            <a:cxnLst/>
            <a:rect l="l" t="t" r="r" b="b"/>
            <a:pathLst>
              <a:path w="17348200" h="1752600">
                <a:moveTo>
                  <a:pt x="0" y="1752600"/>
                </a:moveTo>
                <a:lnTo>
                  <a:pt x="17348200" y="1752600"/>
                </a:lnTo>
                <a:lnTo>
                  <a:pt x="17348200" y="0"/>
                </a:lnTo>
                <a:lnTo>
                  <a:pt x="0" y="0"/>
                </a:lnTo>
                <a:lnTo>
                  <a:pt x="0" y="1752600"/>
                </a:lnTo>
                <a:close/>
              </a:path>
            </a:pathLst>
          </a:custGeom>
          <a:solidFill>
            <a:srgbClr val="BCCCD3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0981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F433A-AD4C-4845-95B5-BA744319B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213" y="1341521"/>
            <a:ext cx="14963775" cy="106354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4E27DF-4FD8-F94C-89DE-71F8959A6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2213" y="2597150"/>
            <a:ext cx="7405687" cy="61880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0116CD-0931-1E4B-869D-86336063F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50300" y="2597150"/>
            <a:ext cx="7405688" cy="61880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19EF62-B1CA-194A-A8C0-B00D4929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518DB0-E160-1B4E-AF90-B06201F0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23CAAA-58EE-784D-BD91-D9FE383D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760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B5370-FB7A-2649-8204-D17A3CBA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1328738"/>
            <a:ext cx="14962187" cy="103346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7D79AE-8C86-4242-98A4-37C728186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5388" y="2390775"/>
            <a:ext cx="733901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54A44B-23A9-9F4D-A015-75D033BAD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5388" y="3562350"/>
            <a:ext cx="7339012" cy="5240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BAAB34-0793-2343-9F76-51539B000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2050" y="2390775"/>
            <a:ext cx="737552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E869DC-CA15-2741-B13E-B20B2E40A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2050" y="3562350"/>
            <a:ext cx="7375525" cy="5240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1E851D-27EF-3944-AB5F-B49CC316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F15C6B8-0DA7-CB4F-AEAF-E97DF9AA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743C21-0EA8-B543-9578-2F5D5491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0644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C0EDA-D105-2445-BA4B-A382EA4C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213" y="1341521"/>
            <a:ext cx="14963775" cy="106354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1856AE-E9BE-5F49-9917-DC5A0020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CE38AB0-49DC-8D41-9C2A-A658C2B3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88F65E-0A8A-BF4D-A9D1-13CDC1461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24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8C8939B-8267-694F-856F-1F6A6D3D7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280AF8-360C-B94A-8025-AC3F1079B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109C4D-40BA-F643-857D-E6852A32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115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1FC3F-E0E6-394F-B8FD-527E0D1D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1404937"/>
            <a:ext cx="5594350" cy="152082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AA864-BD69-0F4A-973D-D9EF8A43D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525" y="1404938"/>
            <a:ext cx="8782050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F5398E-8F5C-DE4E-AC69-E81031124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5388" y="2925763"/>
            <a:ext cx="5594350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F9B3AF-C10B-9A4A-B093-A06D0DB5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631405-7611-8647-AEF1-38DA7D29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C65330-9D9C-9440-9F64-6A6A6D19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7913AA73-30F5-1B4A-BCB9-4C8B20F21D11}"/>
              </a:ext>
            </a:extLst>
          </p:cNvPr>
          <p:cNvSpPr/>
          <p:nvPr userDrawn="1"/>
        </p:nvSpPr>
        <p:spPr>
          <a:xfrm>
            <a:off x="7226300" y="1219200"/>
            <a:ext cx="9118600" cy="784860"/>
          </a:xfrm>
          <a:custGeom>
            <a:avLst/>
            <a:gdLst/>
            <a:ahLst/>
            <a:cxnLst/>
            <a:rect l="l" t="t" r="r" b="b"/>
            <a:pathLst>
              <a:path w="12776200" h="784860">
                <a:moveTo>
                  <a:pt x="0" y="0"/>
                </a:moveTo>
                <a:lnTo>
                  <a:pt x="12776200" y="0"/>
                </a:lnTo>
                <a:lnTo>
                  <a:pt x="12776200" y="784301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E7F0E087-6FBC-5141-ACF1-55D5B5CBE648}"/>
              </a:ext>
            </a:extLst>
          </p:cNvPr>
          <p:cNvSpPr/>
          <p:nvPr userDrawn="1"/>
        </p:nvSpPr>
        <p:spPr>
          <a:xfrm>
            <a:off x="7226300" y="7658418"/>
            <a:ext cx="9118600" cy="921385"/>
          </a:xfrm>
          <a:custGeom>
            <a:avLst/>
            <a:gdLst/>
            <a:ahLst/>
            <a:cxnLst/>
            <a:rect l="l" t="t" r="r" b="b"/>
            <a:pathLst>
              <a:path w="12776200" h="921384">
                <a:moveTo>
                  <a:pt x="12776200" y="921334"/>
                </a:moveTo>
                <a:lnTo>
                  <a:pt x="0" y="921334"/>
                </a:lnTo>
                <a:lnTo>
                  <a:pt x="0" y="0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768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96D88-6EC7-D146-9B3A-C8DB6B6C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1404937"/>
            <a:ext cx="5594350" cy="152082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8105B2-4330-914B-B152-C3FE7E53B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5525" y="1404938"/>
            <a:ext cx="8782050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743D74-ECFC-1243-8BFC-8A027D687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5388" y="2925763"/>
            <a:ext cx="5594350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D86FA6-6FF1-E04E-8C1C-4B46BC86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FAB447-360C-494E-B83D-0FC668C8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99BE8B-054E-104F-B926-FFBD75E2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39F4EE54-F5B2-BF4F-BEBF-BD9B6D4EB927}"/>
              </a:ext>
            </a:extLst>
          </p:cNvPr>
          <p:cNvSpPr/>
          <p:nvPr userDrawn="1"/>
        </p:nvSpPr>
        <p:spPr>
          <a:xfrm>
            <a:off x="7226300" y="1219200"/>
            <a:ext cx="9118600" cy="784860"/>
          </a:xfrm>
          <a:custGeom>
            <a:avLst/>
            <a:gdLst/>
            <a:ahLst/>
            <a:cxnLst/>
            <a:rect l="l" t="t" r="r" b="b"/>
            <a:pathLst>
              <a:path w="12776200" h="784860">
                <a:moveTo>
                  <a:pt x="0" y="0"/>
                </a:moveTo>
                <a:lnTo>
                  <a:pt x="12776200" y="0"/>
                </a:lnTo>
                <a:lnTo>
                  <a:pt x="12776200" y="784301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A76AE678-6447-4D4A-87B3-238B51C3469C}"/>
              </a:ext>
            </a:extLst>
          </p:cNvPr>
          <p:cNvSpPr/>
          <p:nvPr userDrawn="1"/>
        </p:nvSpPr>
        <p:spPr>
          <a:xfrm>
            <a:off x="7226300" y="7658418"/>
            <a:ext cx="9118600" cy="921385"/>
          </a:xfrm>
          <a:custGeom>
            <a:avLst/>
            <a:gdLst/>
            <a:ahLst/>
            <a:cxnLst/>
            <a:rect l="l" t="t" r="r" b="b"/>
            <a:pathLst>
              <a:path w="12776200" h="921384">
                <a:moveTo>
                  <a:pt x="12776200" y="921334"/>
                </a:moveTo>
                <a:lnTo>
                  <a:pt x="0" y="921334"/>
                </a:lnTo>
                <a:lnTo>
                  <a:pt x="0" y="0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755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ulo del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ítulo 26">
            <a:extLst>
              <a:ext uri="{FF2B5EF4-FFF2-40B4-BE49-F238E27FC236}">
                <a16:creationId xmlns:a16="http://schemas.microsoft.com/office/drawing/2014/main" id="{65233DF7-DB3D-3249-B538-FC5B3FD4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1963" y="4282998"/>
            <a:ext cx="5537138" cy="188920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latin typeface="Antenna Bold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3C0E6CBF-7289-4AA6-BEB1-F1CD8208A185}"/>
              </a:ext>
            </a:extLst>
          </p:cNvPr>
          <p:cNvSpPr/>
          <p:nvPr userDrawn="1"/>
        </p:nvSpPr>
        <p:spPr>
          <a:xfrm>
            <a:off x="0" y="0"/>
            <a:ext cx="79883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7EA84F35-1A88-48A7-BCA4-96B057EB3591}"/>
              </a:ext>
            </a:extLst>
          </p:cNvPr>
          <p:cNvSpPr/>
          <p:nvPr userDrawn="1"/>
        </p:nvSpPr>
        <p:spPr>
          <a:xfrm>
            <a:off x="0" y="0"/>
            <a:ext cx="7988300" cy="9753600"/>
          </a:xfrm>
          <a:custGeom>
            <a:avLst/>
            <a:gdLst/>
            <a:ahLst/>
            <a:cxnLst/>
            <a:rect l="l" t="t" r="r" b="b"/>
            <a:pathLst>
              <a:path w="7988300" h="9753600">
                <a:moveTo>
                  <a:pt x="0" y="9753600"/>
                </a:moveTo>
                <a:lnTo>
                  <a:pt x="7988300" y="9753600"/>
                </a:lnTo>
                <a:lnTo>
                  <a:pt x="79883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solidFill>
            <a:srgbClr val="01132F">
              <a:alpha val="96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9E48DB2F-555A-40BF-BF02-21232A37A4DB}"/>
              </a:ext>
            </a:extLst>
          </p:cNvPr>
          <p:cNvSpPr txBox="1"/>
          <p:nvPr userDrawn="1"/>
        </p:nvSpPr>
        <p:spPr>
          <a:xfrm>
            <a:off x="1689100" y="4584306"/>
            <a:ext cx="3051810" cy="1283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250" b="1">
                <a:solidFill>
                  <a:srgbClr val="F0F1F1"/>
                </a:solidFill>
                <a:latin typeface="Antenna Bold"/>
                <a:cs typeface="Antenna Bold"/>
              </a:rPr>
              <a:t>M</a:t>
            </a:r>
            <a:r>
              <a:rPr sz="8250" b="1">
                <a:solidFill>
                  <a:srgbClr val="18CDE2"/>
                </a:solidFill>
                <a:latin typeface="Antenna Bold"/>
                <a:cs typeface="Antenna Bold"/>
              </a:rPr>
              <a:t>IA</a:t>
            </a:r>
            <a:r>
              <a:rPr sz="8250" b="1">
                <a:solidFill>
                  <a:srgbClr val="F0F1F1"/>
                </a:solidFill>
                <a:latin typeface="Antenna Bold"/>
                <a:cs typeface="Antenna Bold"/>
              </a:rPr>
              <a:t>D</a:t>
            </a:r>
            <a:endParaRPr sz="8250">
              <a:latin typeface="Antenna Bold"/>
              <a:cs typeface="Antenna Bold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B63A1F9F-04AD-4F62-AE1A-735CE3027F82}"/>
              </a:ext>
            </a:extLst>
          </p:cNvPr>
          <p:cNvSpPr txBox="1"/>
          <p:nvPr userDrawn="1"/>
        </p:nvSpPr>
        <p:spPr>
          <a:xfrm>
            <a:off x="5446897" y="5013861"/>
            <a:ext cx="1271905" cy="67564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050" spc="10">
                <a:solidFill>
                  <a:srgbClr val="FFFFFF"/>
                </a:solidFill>
                <a:latin typeface="Antenna Regular"/>
                <a:cs typeface="Antenna Regular"/>
              </a:rPr>
              <a:t>Maestría</a:t>
            </a:r>
            <a:endParaRPr sz="1050">
              <a:latin typeface="Antenna Regular"/>
              <a:cs typeface="Antenna Regular"/>
            </a:endParaRPr>
          </a:p>
          <a:p>
            <a:pPr marL="12700" marR="5080">
              <a:lnSpc>
                <a:spcPct val="135400"/>
              </a:lnSpc>
            </a:pPr>
            <a:r>
              <a:rPr sz="1050" spc="20">
                <a:solidFill>
                  <a:srgbClr val="FFFFFF"/>
                </a:solidFill>
                <a:latin typeface="Antenna Regular"/>
                <a:cs typeface="Antenna Regular"/>
              </a:rPr>
              <a:t>en </a:t>
            </a:r>
            <a:r>
              <a:rPr sz="1050" spc="10">
                <a:solidFill>
                  <a:srgbClr val="FFFFFF"/>
                </a:solidFill>
                <a:latin typeface="Antenna Regular"/>
                <a:cs typeface="Antenna Regular"/>
              </a:rPr>
              <a:t>Inteligencia  Analítica </a:t>
            </a:r>
            <a:r>
              <a:rPr sz="1050" spc="20">
                <a:solidFill>
                  <a:srgbClr val="FFFFFF"/>
                </a:solidFill>
                <a:latin typeface="Antenna Regular"/>
                <a:cs typeface="Antenna Regular"/>
              </a:rPr>
              <a:t>de</a:t>
            </a:r>
            <a:r>
              <a:rPr sz="1050" spc="-50">
                <a:solidFill>
                  <a:srgbClr val="FFFFFF"/>
                </a:solidFill>
                <a:latin typeface="Antenna Regular"/>
                <a:cs typeface="Antenna Regular"/>
              </a:rPr>
              <a:t> </a:t>
            </a:r>
            <a:r>
              <a:rPr sz="1050" spc="5">
                <a:solidFill>
                  <a:srgbClr val="FFFFFF"/>
                </a:solidFill>
                <a:latin typeface="Antenna Regular"/>
                <a:cs typeface="Antenna Regular"/>
              </a:rPr>
              <a:t>Datos</a:t>
            </a:r>
            <a:endParaRPr sz="1050">
              <a:latin typeface="Antenna Regular"/>
              <a:cs typeface="Antenna Regular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036BDD21-459F-4C2D-B779-7BB6340FBA9A}"/>
              </a:ext>
            </a:extLst>
          </p:cNvPr>
          <p:cNvSpPr/>
          <p:nvPr userDrawn="1"/>
        </p:nvSpPr>
        <p:spPr>
          <a:xfrm>
            <a:off x="4004868" y="3601885"/>
            <a:ext cx="1915934" cy="2043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A0DB3128-E079-4C97-896B-659E050E2499}"/>
              </a:ext>
            </a:extLst>
          </p:cNvPr>
          <p:cNvSpPr/>
          <p:nvPr userDrawn="1"/>
        </p:nvSpPr>
        <p:spPr>
          <a:xfrm>
            <a:off x="10121962" y="4038600"/>
            <a:ext cx="5216435" cy="25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8432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2EFCD520-3910-8542-8B38-C0DB32A02B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30016" y="7278089"/>
            <a:ext cx="3125971" cy="709184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bg2"/>
                </a:solidFill>
                <a:latin typeface="Antenna Bold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83547BEA-4FDC-4369-A61E-03940733A7AD}"/>
              </a:ext>
            </a:extLst>
          </p:cNvPr>
          <p:cNvSpPr/>
          <p:nvPr userDrawn="1"/>
        </p:nvSpPr>
        <p:spPr>
          <a:xfrm>
            <a:off x="0" y="0"/>
            <a:ext cx="17348200" cy="9753600"/>
          </a:xfrm>
          <a:custGeom>
            <a:avLst/>
            <a:gdLst/>
            <a:ahLst/>
            <a:cxnLst/>
            <a:rect l="l" t="t" r="r" b="b"/>
            <a:pathLst>
              <a:path w="17348200" h="9753600">
                <a:moveTo>
                  <a:pt x="0" y="9753600"/>
                </a:moveTo>
                <a:lnTo>
                  <a:pt x="17348200" y="9753600"/>
                </a:lnTo>
                <a:lnTo>
                  <a:pt x="173482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solidFill>
            <a:srgbClr val="0113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9789BB49-4F89-455F-8B82-B92A2B0EE044}"/>
              </a:ext>
            </a:extLst>
          </p:cNvPr>
          <p:cNvSpPr txBox="1"/>
          <p:nvPr userDrawn="1"/>
        </p:nvSpPr>
        <p:spPr>
          <a:xfrm>
            <a:off x="8256637" y="7987272"/>
            <a:ext cx="2221230" cy="938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50" b="1" spc="35">
                <a:solidFill>
                  <a:srgbClr val="F0F1F1"/>
                </a:solidFill>
                <a:latin typeface="Antenna Bold"/>
                <a:cs typeface="Antenna Bold"/>
              </a:rPr>
              <a:t>M</a:t>
            </a:r>
            <a:r>
              <a:rPr sz="5950" b="1" spc="20">
                <a:solidFill>
                  <a:srgbClr val="18CDE2"/>
                </a:solidFill>
                <a:latin typeface="Antenna Bold"/>
                <a:cs typeface="Antenna Bold"/>
              </a:rPr>
              <a:t>IA</a:t>
            </a:r>
            <a:r>
              <a:rPr sz="5950" b="1" spc="30">
                <a:solidFill>
                  <a:srgbClr val="F0F1F1"/>
                </a:solidFill>
                <a:latin typeface="Antenna Bold"/>
                <a:cs typeface="Antenna Bold"/>
              </a:rPr>
              <a:t>D</a:t>
            </a:r>
            <a:endParaRPr sz="5950">
              <a:latin typeface="Antenna Bold"/>
              <a:cs typeface="Antenna Bold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79F13FBE-768F-407D-8A9A-AE6E956532C5}"/>
              </a:ext>
            </a:extLst>
          </p:cNvPr>
          <p:cNvSpPr txBox="1"/>
          <p:nvPr userDrawn="1"/>
        </p:nvSpPr>
        <p:spPr>
          <a:xfrm>
            <a:off x="10983144" y="8298948"/>
            <a:ext cx="929640" cy="4972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750" spc="15">
                <a:solidFill>
                  <a:srgbClr val="FFFFFF"/>
                </a:solidFill>
                <a:latin typeface="Antenna Regular"/>
                <a:cs typeface="Antenna Regular"/>
              </a:rPr>
              <a:t>Maestría</a:t>
            </a:r>
            <a:endParaRPr sz="750">
              <a:latin typeface="Antenna Regular"/>
              <a:cs typeface="Antenna Regular"/>
            </a:endParaRPr>
          </a:p>
          <a:p>
            <a:pPr marL="12700" marR="5080">
              <a:lnSpc>
                <a:spcPct val="137500"/>
              </a:lnSpc>
            </a:pPr>
            <a:r>
              <a:rPr sz="750" spc="20">
                <a:solidFill>
                  <a:srgbClr val="FFFFFF"/>
                </a:solidFill>
                <a:latin typeface="Antenna Regular"/>
                <a:cs typeface="Antenna Regular"/>
              </a:rPr>
              <a:t>en </a:t>
            </a:r>
            <a:r>
              <a:rPr sz="750" spc="10">
                <a:solidFill>
                  <a:srgbClr val="FFFFFF"/>
                </a:solidFill>
                <a:latin typeface="Antenna Regular"/>
                <a:cs typeface="Antenna Regular"/>
              </a:rPr>
              <a:t>Inteligencia  </a:t>
            </a:r>
            <a:r>
              <a:rPr sz="750" spc="15">
                <a:solidFill>
                  <a:srgbClr val="FFFFFF"/>
                </a:solidFill>
                <a:latin typeface="Antenna Regular"/>
                <a:cs typeface="Antenna Regular"/>
              </a:rPr>
              <a:t>Analítica </a:t>
            </a:r>
            <a:r>
              <a:rPr sz="750" spc="20">
                <a:solidFill>
                  <a:srgbClr val="FFFFFF"/>
                </a:solidFill>
                <a:latin typeface="Antenna Regular"/>
                <a:cs typeface="Antenna Regular"/>
              </a:rPr>
              <a:t>de</a:t>
            </a:r>
            <a:r>
              <a:rPr sz="750" spc="-80">
                <a:solidFill>
                  <a:srgbClr val="FFFFFF"/>
                </a:solidFill>
                <a:latin typeface="Antenna Regular"/>
                <a:cs typeface="Antenna Regular"/>
              </a:rPr>
              <a:t> </a:t>
            </a:r>
            <a:r>
              <a:rPr sz="750" spc="10">
                <a:solidFill>
                  <a:srgbClr val="FFFFFF"/>
                </a:solidFill>
                <a:latin typeface="Antenna Regular"/>
                <a:cs typeface="Antenna Regular"/>
              </a:rPr>
              <a:t>Datos</a:t>
            </a:r>
            <a:endParaRPr sz="750">
              <a:latin typeface="Antenna Regular"/>
              <a:cs typeface="Antenna Regular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FE3B41FE-F217-4488-B664-4F58AA446189}"/>
              </a:ext>
            </a:extLst>
          </p:cNvPr>
          <p:cNvSpPr/>
          <p:nvPr userDrawn="1"/>
        </p:nvSpPr>
        <p:spPr>
          <a:xfrm>
            <a:off x="9940352" y="7278090"/>
            <a:ext cx="1390129" cy="1482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F63BC64D-1A81-4844-B105-C02D30E2CE55}"/>
              </a:ext>
            </a:extLst>
          </p:cNvPr>
          <p:cNvSpPr/>
          <p:nvPr userDrawn="1"/>
        </p:nvSpPr>
        <p:spPr>
          <a:xfrm>
            <a:off x="12471400" y="7327900"/>
            <a:ext cx="0" cy="1536700"/>
          </a:xfrm>
          <a:custGeom>
            <a:avLst/>
            <a:gdLst/>
            <a:ahLst/>
            <a:cxnLst/>
            <a:rect l="l" t="t" r="r" b="b"/>
            <a:pathLst>
              <a:path h="1536700">
                <a:moveTo>
                  <a:pt x="0" y="0"/>
                </a:moveTo>
                <a:lnTo>
                  <a:pt x="0" y="15367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807EEC0C-7422-4F09-AF9D-20EAED862CEE}"/>
              </a:ext>
            </a:extLst>
          </p:cNvPr>
          <p:cNvSpPr/>
          <p:nvPr userDrawn="1"/>
        </p:nvSpPr>
        <p:spPr>
          <a:xfrm>
            <a:off x="0" y="12699"/>
            <a:ext cx="7796720" cy="9740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4913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70143E76-A504-1E4B-B6FC-7D7BB768B4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3728085" cy="156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b="1" i="0" baseline="0">
                <a:noFill/>
                <a:latin typeface="Antenna Bold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100" spc="-5">
                <a:solidFill>
                  <a:srgbClr val="F0F1F1"/>
                </a:solidFill>
              </a:rPr>
              <a:t>M</a:t>
            </a:r>
            <a:r>
              <a:rPr sz="10100" spc="-5">
                <a:solidFill>
                  <a:srgbClr val="18CDE2"/>
                </a:solidFill>
              </a:rPr>
              <a:t>IA</a:t>
            </a:r>
            <a:r>
              <a:rPr sz="10100" spc="-5">
                <a:solidFill>
                  <a:srgbClr val="F0F1F1"/>
                </a:solidFill>
              </a:rPr>
              <a:t>D</a:t>
            </a:r>
            <a:endParaRPr sz="1010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E7776BA-87D2-464A-9865-B05CC98C54BA}"/>
              </a:ext>
            </a:extLst>
          </p:cNvPr>
          <p:cNvSpPr/>
          <p:nvPr userDrawn="1"/>
        </p:nvSpPr>
        <p:spPr>
          <a:xfrm>
            <a:off x="0" y="0"/>
            <a:ext cx="173482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8F836A2-BD63-9B41-A860-88BF028C706D}"/>
              </a:ext>
            </a:extLst>
          </p:cNvPr>
          <p:cNvSpPr/>
          <p:nvPr userDrawn="1"/>
        </p:nvSpPr>
        <p:spPr>
          <a:xfrm>
            <a:off x="0" y="0"/>
            <a:ext cx="17348200" cy="9753600"/>
          </a:xfrm>
          <a:custGeom>
            <a:avLst/>
            <a:gdLst/>
            <a:ahLst/>
            <a:cxnLst/>
            <a:rect l="l" t="t" r="r" b="b"/>
            <a:pathLst>
              <a:path w="17348200" h="9753600">
                <a:moveTo>
                  <a:pt x="0" y="9753600"/>
                </a:moveTo>
                <a:lnTo>
                  <a:pt x="17348200" y="9753600"/>
                </a:lnTo>
                <a:lnTo>
                  <a:pt x="173482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solidFill>
            <a:srgbClr val="01132F">
              <a:alpha val="96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5ABB4C5D-A26F-E641-9B3E-65902DC30043}"/>
              </a:ext>
            </a:extLst>
          </p:cNvPr>
          <p:cNvSpPr txBox="1"/>
          <p:nvPr userDrawn="1"/>
        </p:nvSpPr>
        <p:spPr>
          <a:xfrm>
            <a:off x="10197796" y="5076918"/>
            <a:ext cx="1550035" cy="8210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300" spc="10">
                <a:solidFill>
                  <a:srgbClr val="FFFFFF"/>
                </a:solidFill>
                <a:latin typeface="Antenna Regular"/>
                <a:cs typeface="Antenna Regular"/>
              </a:rPr>
              <a:t>Maestría</a:t>
            </a:r>
            <a:endParaRPr sz="1300">
              <a:latin typeface="Antenna Regular"/>
              <a:cs typeface="Antenna Regular"/>
            </a:endParaRPr>
          </a:p>
          <a:p>
            <a:pPr marL="12700" marR="5080">
              <a:lnSpc>
                <a:spcPct val="133800"/>
              </a:lnSpc>
            </a:pPr>
            <a:r>
              <a:rPr sz="1300" spc="15">
                <a:solidFill>
                  <a:srgbClr val="FFFFFF"/>
                </a:solidFill>
                <a:latin typeface="Antenna Regular"/>
                <a:cs typeface="Antenna Regular"/>
              </a:rPr>
              <a:t>en </a:t>
            </a:r>
            <a:r>
              <a:rPr sz="1300" spc="5">
                <a:solidFill>
                  <a:srgbClr val="FFFFFF"/>
                </a:solidFill>
                <a:latin typeface="Antenna Regular"/>
                <a:cs typeface="Antenna Regular"/>
              </a:rPr>
              <a:t>Inteligencia  </a:t>
            </a:r>
            <a:r>
              <a:rPr sz="1300" spc="10">
                <a:solidFill>
                  <a:srgbClr val="FFFFFF"/>
                </a:solidFill>
                <a:latin typeface="Antenna Regular"/>
                <a:cs typeface="Antenna Regular"/>
              </a:rPr>
              <a:t>Analítica </a:t>
            </a:r>
            <a:r>
              <a:rPr sz="1300" spc="15">
                <a:solidFill>
                  <a:srgbClr val="FFFFFF"/>
                </a:solidFill>
                <a:latin typeface="Antenna Regular"/>
                <a:cs typeface="Antenna Regular"/>
              </a:rPr>
              <a:t>de</a:t>
            </a:r>
            <a:r>
              <a:rPr sz="1300" spc="-95">
                <a:solidFill>
                  <a:srgbClr val="FFFFFF"/>
                </a:solidFill>
                <a:latin typeface="Antenna Regular"/>
                <a:cs typeface="Antenna Regular"/>
              </a:rPr>
              <a:t> </a:t>
            </a:r>
            <a:r>
              <a:rPr sz="1300">
                <a:solidFill>
                  <a:srgbClr val="FFFFFF"/>
                </a:solidFill>
                <a:latin typeface="Antenna Regular"/>
                <a:cs typeface="Antenna Regular"/>
              </a:rPr>
              <a:t>Datos</a:t>
            </a:r>
            <a:endParaRPr sz="1300">
              <a:latin typeface="Antenna Regular"/>
              <a:cs typeface="Antenna Regular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80828E7D-989B-6E4A-8937-B28B24A90295}"/>
              </a:ext>
            </a:extLst>
          </p:cNvPr>
          <p:cNvSpPr/>
          <p:nvPr userDrawn="1"/>
        </p:nvSpPr>
        <p:spPr>
          <a:xfrm>
            <a:off x="8430843" y="3351478"/>
            <a:ext cx="2343873" cy="24950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4BEED967-6724-2243-8B29-25DFF0A0A407}"/>
              </a:ext>
            </a:extLst>
          </p:cNvPr>
          <p:cNvSpPr txBox="1">
            <a:spLocks/>
          </p:cNvSpPr>
          <p:nvPr userDrawn="1"/>
        </p:nvSpPr>
        <p:spPr>
          <a:xfrm>
            <a:off x="5874694" y="4506740"/>
            <a:ext cx="3728085" cy="156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noFill/>
                <a:latin typeface="Antenna Bold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0100" spc="-5">
                <a:solidFill>
                  <a:srgbClr val="F0F1F1"/>
                </a:solidFill>
              </a:rPr>
              <a:t>M</a:t>
            </a:r>
            <a:r>
              <a:rPr lang="es-CO" sz="10100" spc="-5">
                <a:solidFill>
                  <a:srgbClr val="18CDE2"/>
                </a:solidFill>
              </a:rPr>
              <a:t>IA</a:t>
            </a:r>
            <a:r>
              <a:rPr lang="es-CO" sz="10100" spc="-5">
                <a:solidFill>
                  <a:srgbClr val="F0F1F1"/>
                </a:solidFill>
              </a:rPr>
              <a:t>D</a:t>
            </a:r>
            <a:endParaRPr lang="es-CO" sz="10100"/>
          </a:p>
        </p:txBody>
      </p:sp>
    </p:spTree>
    <p:extLst>
      <p:ext uri="{BB962C8B-B14F-4D97-AF65-F5344CB8AC3E}">
        <p14:creationId xmlns:p14="http://schemas.microsoft.com/office/powerpoint/2010/main" val="286102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del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F385C290-A234-C241-9939-3B7D82F5287B}"/>
              </a:ext>
            </a:extLst>
          </p:cNvPr>
          <p:cNvSpPr/>
          <p:nvPr userDrawn="1"/>
        </p:nvSpPr>
        <p:spPr>
          <a:xfrm>
            <a:off x="0" y="0"/>
            <a:ext cx="79883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C768A84-8D4D-2945-86FD-DFDC3BF3294F}"/>
              </a:ext>
            </a:extLst>
          </p:cNvPr>
          <p:cNvSpPr/>
          <p:nvPr userDrawn="1"/>
        </p:nvSpPr>
        <p:spPr>
          <a:xfrm>
            <a:off x="0" y="0"/>
            <a:ext cx="7988300" cy="9753600"/>
          </a:xfrm>
          <a:custGeom>
            <a:avLst/>
            <a:gdLst/>
            <a:ahLst/>
            <a:cxnLst/>
            <a:rect l="l" t="t" r="r" b="b"/>
            <a:pathLst>
              <a:path w="7988300" h="9753600">
                <a:moveTo>
                  <a:pt x="0" y="9753600"/>
                </a:moveTo>
                <a:lnTo>
                  <a:pt x="7988300" y="9753600"/>
                </a:lnTo>
                <a:lnTo>
                  <a:pt x="79883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solidFill>
            <a:srgbClr val="01132F">
              <a:alpha val="96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4C36750-756A-214C-854A-A1FBDFFE8EEF}"/>
              </a:ext>
            </a:extLst>
          </p:cNvPr>
          <p:cNvSpPr txBox="1"/>
          <p:nvPr userDrawn="1"/>
        </p:nvSpPr>
        <p:spPr>
          <a:xfrm>
            <a:off x="1689100" y="4584306"/>
            <a:ext cx="3051810" cy="1283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250" b="1">
                <a:solidFill>
                  <a:srgbClr val="F0F1F1"/>
                </a:solidFill>
                <a:latin typeface="Antenna Bold"/>
                <a:cs typeface="Antenna Bold"/>
              </a:rPr>
              <a:t>M</a:t>
            </a:r>
            <a:r>
              <a:rPr sz="8250" b="1">
                <a:solidFill>
                  <a:srgbClr val="18CDE2"/>
                </a:solidFill>
                <a:latin typeface="Antenna Bold"/>
                <a:cs typeface="Antenna Bold"/>
              </a:rPr>
              <a:t>IA</a:t>
            </a:r>
            <a:r>
              <a:rPr sz="8250" b="1">
                <a:solidFill>
                  <a:srgbClr val="F0F1F1"/>
                </a:solidFill>
                <a:latin typeface="Antenna Bold"/>
                <a:cs typeface="Antenna Bold"/>
              </a:rPr>
              <a:t>D</a:t>
            </a:r>
            <a:endParaRPr sz="8250">
              <a:latin typeface="Antenna Bold"/>
              <a:cs typeface="Antenna Bold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D2990EF3-CFE2-134C-A392-F024079E91DD}"/>
              </a:ext>
            </a:extLst>
          </p:cNvPr>
          <p:cNvSpPr txBox="1"/>
          <p:nvPr userDrawn="1"/>
        </p:nvSpPr>
        <p:spPr>
          <a:xfrm>
            <a:off x="5446897" y="5013861"/>
            <a:ext cx="1271905" cy="67564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050" spc="10">
                <a:solidFill>
                  <a:srgbClr val="FFFFFF"/>
                </a:solidFill>
                <a:latin typeface="Antenna Regular"/>
                <a:cs typeface="Antenna Regular"/>
              </a:rPr>
              <a:t>Maestría</a:t>
            </a:r>
            <a:endParaRPr sz="1050">
              <a:latin typeface="Antenna Regular"/>
              <a:cs typeface="Antenna Regular"/>
            </a:endParaRPr>
          </a:p>
          <a:p>
            <a:pPr marL="12700" marR="5080">
              <a:lnSpc>
                <a:spcPct val="135400"/>
              </a:lnSpc>
            </a:pPr>
            <a:r>
              <a:rPr sz="1050" spc="20">
                <a:solidFill>
                  <a:srgbClr val="FFFFFF"/>
                </a:solidFill>
                <a:latin typeface="Antenna Regular"/>
                <a:cs typeface="Antenna Regular"/>
              </a:rPr>
              <a:t>en </a:t>
            </a:r>
            <a:r>
              <a:rPr sz="1050" spc="10">
                <a:solidFill>
                  <a:srgbClr val="FFFFFF"/>
                </a:solidFill>
                <a:latin typeface="Antenna Regular"/>
                <a:cs typeface="Antenna Regular"/>
              </a:rPr>
              <a:t>Inteligencia  Analítica </a:t>
            </a:r>
            <a:r>
              <a:rPr sz="1050" spc="20">
                <a:solidFill>
                  <a:srgbClr val="FFFFFF"/>
                </a:solidFill>
                <a:latin typeface="Antenna Regular"/>
                <a:cs typeface="Antenna Regular"/>
              </a:rPr>
              <a:t>de</a:t>
            </a:r>
            <a:r>
              <a:rPr sz="1050" spc="-50">
                <a:solidFill>
                  <a:srgbClr val="FFFFFF"/>
                </a:solidFill>
                <a:latin typeface="Antenna Regular"/>
                <a:cs typeface="Antenna Regular"/>
              </a:rPr>
              <a:t> </a:t>
            </a:r>
            <a:r>
              <a:rPr sz="1050" spc="5">
                <a:solidFill>
                  <a:srgbClr val="FFFFFF"/>
                </a:solidFill>
                <a:latin typeface="Antenna Regular"/>
                <a:cs typeface="Antenna Regular"/>
              </a:rPr>
              <a:t>Datos</a:t>
            </a:r>
            <a:endParaRPr sz="1050">
              <a:latin typeface="Antenna Regular"/>
              <a:cs typeface="Antenna Regular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E7F524E-3578-694F-8B3A-B9F7614835BB}"/>
              </a:ext>
            </a:extLst>
          </p:cNvPr>
          <p:cNvSpPr/>
          <p:nvPr userDrawn="1"/>
        </p:nvSpPr>
        <p:spPr>
          <a:xfrm>
            <a:off x="4004868" y="3601885"/>
            <a:ext cx="1915934" cy="2043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EC9A71DD-7A7A-394D-AF6A-CB8EB66CEC61}"/>
              </a:ext>
            </a:extLst>
          </p:cNvPr>
          <p:cNvSpPr/>
          <p:nvPr userDrawn="1"/>
        </p:nvSpPr>
        <p:spPr>
          <a:xfrm>
            <a:off x="10121962" y="4038600"/>
            <a:ext cx="5216435" cy="25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Título 26">
            <a:extLst>
              <a:ext uri="{FF2B5EF4-FFF2-40B4-BE49-F238E27FC236}">
                <a16:creationId xmlns:a16="http://schemas.microsoft.com/office/drawing/2014/main" id="{65233DF7-DB3D-3249-B538-FC5B3FD4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1963" y="4282998"/>
            <a:ext cx="5537138" cy="188920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latin typeface="Antenna Bold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064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6B2C1491-DE14-2F40-864C-0A93B5A9F6C6}"/>
              </a:ext>
            </a:extLst>
          </p:cNvPr>
          <p:cNvSpPr/>
          <p:nvPr userDrawn="1"/>
        </p:nvSpPr>
        <p:spPr>
          <a:xfrm>
            <a:off x="0" y="0"/>
            <a:ext cx="17348200" cy="9753600"/>
          </a:xfrm>
          <a:custGeom>
            <a:avLst/>
            <a:gdLst/>
            <a:ahLst/>
            <a:cxnLst/>
            <a:rect l="l" t="t" r="r" b="b"/>
            <a:pathLst>
              <a:path w="17348200" h="9753600">
                <a:moveTo>
                  <a:pt x="0" y="9753600"/>
                </a:moveTo>
                <a:lnTo>
                  <a:pt x="17348200" y="9753600"/>
                </a:lnTo>
                <a:lnTo>
                  <a:pt x="173482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solidFill>
            <a:srgbClr val="0113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87A484B-F601-1148-9946-C96E101EF2AB}"/>
              </a:ext>
            </a:extLst>
          </p:cNvPr>
          <p:cNvSpPr txBox="1"/>
          <p:nvPr userDrawn="1"/>
        </p:nvSpPr>
        <p:spPr>
          <a:xfrm>
            <a:off x="8256637" y="7987272"/>
            <a:ext cx="2221230" cy="938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50" b="1" spc="35">
                <a:solidFill>
                  <a:srgbClr val="F0F1F1"/>
                </a:solidFill>
                <a:latin typeface="Antenna Bold"/>
                <a:cs typeface="Antenna Bold"/>
              </a:rPr>
              <a:t>M</a:t>
            </a:r>
            <a:r>
              <a:rPr sz="5950" b="1" spc="20">
                <a:solidFill>
                  <a:srgbClr val="18CDE2"/>
                </a:solidFill>
                <a:latin typeface="Antenna Bold"/>
                <a:cs typeface="Antenna Bold"/>
              </a:rPr>
              <a:t>IA</a:t>
            </a:r>
            <a:r>
              <a:rPr sz="5950" b="1" spc="30">
                <a:solidFill>
                  <a:srgbClr val="F0F1F1"/>
                </a:solidFill>
                <a:latin typeface="Antenna Bold"/>
                <a:cs typeface="Antenna Bold"/>
              </a:rPr>
              <a:t>D</a:t>
            </a:r>
            <a:endParaRPr sz="5950">
              <a:latin typeface="Antenna Bold"/>
              <a:cs typeface="Antenna Bold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09E41A-FBA9-7E42-8BA5-0B474E84BCD6}"/>
              </a:ext>
            </a:extLst>
          </p:cNvPr>
          <p:cNvSpPr txBox="1"/>
          <p:nvPr userDrawn="1"/>
        </p:nvSpPr>
        <p:spPr>
          <a:xfrm>
            <a:off x="10983144" y="8298948"/>
            <a:ext cx="929640" cy="4972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750" spc="15">
                <a:solidFill>
                  <a:srgbClr val="FFFFFF"/>
                </a:solidFill>
                <a:latin typeface="Antenna Regular"/>
                <a:cs typeface="Antenna Regular"/>
              </a:rPr>
              <a:t>Maestría</a:t>
            </a:r>
            <a:endParaRPr sz="750">
              <a:latin typeface="Antenna Regular"/>
              <a:cs typeface="Antenna Regular"/>
            </a:endParaRPr>
          </a:p>
          <a:p>
            <a:pPr marL="12700" marR="5080">
              <a:lnSpc>
                <a:spcPct val="137500"/>
              </a:lnSpc>
            </a:pPr>
            <a:r>
              <a:rPr sz="750" spc="20">
                <a:solidFill>
                  <a:srgbClr val="FFFFFF"/>
                </a:solidFill>
                <a:latin typeface="Antenna Regular"/>
                <a:cs typeface="Antenna Regular"/>
              </a:rPr>
              <a:t>en </a:t>
            </a:r>
            <a:r>
              <a:rPr sz="750" spc="10">
                <a:solidFill>
                  <a:srgbClr val="FFFFFF"/>
                </a:solidFill>
                <a:latin typeface="Antenna Regular"/>
                <a:cs typeface="Antenna Regular"/>
              </a:rPr>
              <a:t>Inteligencia  </a:t>
            </a:r>
            <a:r>
              <a:rPr sz="750" spc="15">
                <a:solidFill>
                  <a:srgbClr val="FFFFFF"/>
                </a:solidFill>
                <a:latin typeface="Antenna Regular"/>
                <a:cs typeface="Antenna Regular"/>
              </a:rPr>
              <a:t>Analítica </a:t>
            </a:r>
            <a:r>
              <a:rPr sz="750" spc="20">
                <a:solidFill>
                  <a:srgbClr val="FFFFFF"/>
                </a:solidFill>
                <a:latin typeface="Antenna Regular"/>
                <a:cs typeface="Antenna Regular"/>
              </a:rPr>
              <a:t>de</a:t>
            </a:r>
            <a:r>
              <a:rPr sz="750" spc="-80">
                <a:solidFill>
                  <a:srgbClr val="FFFFFF"/>
                </a:solidFill>
                <a:latin typeface="Antenna Regular"/>
                <a:cs typeface="Antenna Regular"/>
              </a:rPr>
              <a:t> </a:t>
            </a:r>
            <a:r>
              <a:rPr sz="750" spc="10">
                <a:solidFill>
                  <a:srgbClr val="FFFFFF"/>
                </a:solidFill>
                <a:latin typeface="Antenna Regular"/>
                <a:cs typeface="Antenna Regular"/>
              </a:rPr>
              <a:t>Datos</a:t>
            </a:r>
            <a:endParaRPr sz="750">
              <a:latin typeface="Antenna Regular"/>
              <a:cs typeface="Antenna Regular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4547025-7A88-2C41-B374-4A0BD0006075}"/>
              </a:ext>
            </a:extLst>
          </p:cNvPr>
          <p:cNvSpPr/>
          <p:nvPr userDrawn="1"/>
        </p:nvSpPr>
        <p:spPr>
          <a:xfrm>
            <a:off x="9940352" y="7278090"/>
            <a:ext cx="1390129" cy="1482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EE63B38-385B-4542-8DC5-35BC06AA37D3}"/>
              </a:ext>
            </a:extLst>
          </p:cNvPr>
          <p:cNvSpPr/>
          <p:nvPr userDrawn="1"/>
        </p:nvSpPr>
        <p:spPr>
          <a:xfrm>
            <a:off x="12471400" y="7327900"/>
            <a:ext cx="0" cy="1536700"/>
          </a:xfrm>
          <a:custGeom>
            <a:avLst/>
            <a:gdLst/>
            <a:ahLst/>
            <a:cxnLst/>
            <a:rect l="l" t="t" r="r" b="b"/>
            <a:pathLst>
              <a:path h="1536700">
                <a:moveTo>
                  <a:pt x="0" y="0"/>
                </a:moveTo>
                <a:lnTo>
                  <a:pt x="0" y="15367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537BDE22-BCC3-B544-8CCC-CBFC6C93BF8C}"/>
              </a:ext>
            </a:extLst>
          </p:cNvPr>
          <p:cNvSpPr/>
          <p:nvPr userDrawn="1"/>
        </p:nvSpPr>
        <p:spPr>
          <a:xfrm>
            <a:off x="0" y="12699"/>
            <a:ext cx="7796720" cy="9740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2EFCD520-3910-8542-8B38-C0DB32A02B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30016" y="7278089"/>
            <a:ext cx="3125971" cy="709184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bg2"/>
                </a:solidFill>
                <a:latin typeface="Antenna Bold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12759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cabezado en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80EFF-90C6-FE48-A1EA-51EB13824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2300" y="3340195"/>
            <a:ext cx="14187488" cy="1063543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3F50FD-DC08-5140-A4D1-C801A9CA5A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595336"/>
            <a:ext cx="14187488" cy="1881663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 anchorCtr="1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64BC35-D18F-C84F-84C6-A2E9AD29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CF7541-EFD1-494D-985E-6CB9C9CB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A7EF88C-1EC0-B94A-BE51-EC8901F73648}"/>
              </a:ext>
            </a:extLst>
          </p:cNvPr>
          <p:cNvSpPr/>
          <p:nvPr userDrawn="1"/>
        </p:nvSpPr>
        <p:spPr>
          <a:xfrm>
            <a:off x="3949700" y="3056219"/>
            <a:ext cx="9241234" cy="28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7529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ersonaje a la izquierda con encabe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B65C5-CC1E-6F4E-88AB-F4FD3BF3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0" y="1341519"/>
            <a:ext cx="7481888" cy="1063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07063-710F-B54B-8806-2C66D272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4100" y="2597150"/>
            <a:ext cx="7481888" cy="6188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84FDDE-4647-D748-AB06-B1EBAEB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C5763-B804-7540-ADB6-CEE7F6D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5E3F7E-EE8A-344F-86DF-3E1493EA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9491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ersonaje a la derecha con encabe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B65C5-CC1E-6F4E-88AB-F4FD3BF3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212" y="1411369"/>
            <a:ext cx="7481888" cy="1063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07063-710F-B54B-8806-2C66D272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212" y="2667000"/>
            <a:ext cx="7481888" cy="6188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84FDDE-4647-D748-AB06-B1EBAEB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C5763-B804-7540-ADB6-CEE7F6D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5E3F7E-EE8A-344F-86DF-3E1493EA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88001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je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07063-710F-B54B-8806-2C66D272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4100" y="1341520"/>
            <a:ext cx="7481888" cy="7443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84FDDE-4647-D748-AB06-B1EBAEB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C5763-B804-7540-ADB6-CEE7F6D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5E3F7E-EE8A-344F-86DF-3E1493EA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84772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je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07063-710F-B54B-8806-2C66D272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212" y="1219200"/>
            <a:ext cx="7481888" cy="7635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84FDDE-4647-D748-AB06-B1EBAEB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C5763-B804-7540-ADB6-CEE7F6D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5E3F7E-EE8A-344F-86DF-3E1493EA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44602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54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del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F385C290-A234-C241-9939-3B7D82F5287B}"/>
              </a:ext>
            </a:extLst>
          </p:cNvPr>
          <p:cNvSpPr/>
          <p:nvPr userDrawn="1"/>
        </p:nvSpPr>
        <p:spPr>
          <a:xfrm>
            <a:off x="0" y="0"/>
            <a:ext cx="79883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C768A84-8D4D-2945-86FD-DFDC3BF3294F}"/>
              </a:ext>
            </a:extLst>
          </p:cNvPr>
          <p:cNvSpPr/>
          <p:nvPr userDrawn="1"/>
        </p:nvSpPr>
        <p:spPr>
          <a:xfrm>
            <a:off x="0" y="0"/>
            <a:ext cx="7988300" cy="9753600"/>
          </a:xfrm>
          <a:custGeom>
            <a:avLst/>
            <a:gdLst/>
            <a:ahLst/>
            <a:cxnLst/>
            <a:rect l="l" t="t" r="r" b="b"/>
            <a:pathLst>
              <a:path w="7988300" h="9753600">
                <a:moveTo>
                  <a:pt x="0" y="9753600"/>
                </a:moveTo>
                <a:lnTo>
                  <a:pt x="7988300" y="9753600"/>
                </a:lnTo>
                <a:lnTo>
                  <a:pt x="79883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solidFill>
            <a:srgbClr val="01132F">
              <a:alpha val="96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4C36750-756A-214C-854A-A1FBDFFE8EEF}"/>
              </a:ext>
            </a:extLst>
          </p:cNvPr>
          <p:cNvSpPr txBox="1"/>
          <p:nvPr userDrawn="1"/>
        </p:nvSpPr>
        <p:spPr>
          <a:xfrm>
            <a:off x="1689100" y="4584306"/>
            <a:ext cx="3051810" cy="1283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250" b="1">
                <a:solidFill>
                  <a:srgbClr val="F0F1F1"/>
                </a:solidFill>
                <a:latin typeface="Antenna Bold"/>
                <a:cs typeface="Antenna Bold"/>
              </a:rPr>
              <a:t>M</a:t>
            </a:r>
            <a:r>
              <a:rPr sz="8250" b="1">
                <a:solidFill>
                  <a:srgbClr val="18CDE2"/>
                </a:solidFill>
                <a:latin typeface="Antenna Bold"/>
                <a:cs typeface="Antenna Bold"/>
              </a:rPr>
              <a:t>IA</a:t>
            </a:r>
            <a:r>
              <a:rPr sz="8250" b="1">
                <a:solidFill>
                  <a:srgbClr val="F0F1F1"/>
                </a:solidFill>
                <a:latin typeface="Antenna Bold"/>
                <a:cs typeface="Antenna Bold"/>
              </a:rPr>
              <a:t>D</a:t>
            </a:r>
            <a:endParaRPr sz="8250">
              <a:latin typeface="Antenna Bold"/>
              <a:cs typeface="Antenna Bold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D2990EF3-CFE2-134C-A392-F024079E91DD}"/>
              </a:ext>
            </a:extLst>
          </p:cNvPr>
          <p:cNvSpPr txBox="1"/>
          <p:nvPr userDrawn="1"/>
        </p:nvSpPr>
        <p:spPr>
          <a:xfrm>
            <a:off x="5446897" y="5013861"/>
            <a:ext cx="1271905" cy="67564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050" spc="10">
                <a:solidFill>
                  <a:srgbClr val="FFFFFF"/>
                </a:solidFill>
                <a:latin typeface="Antenna Regular"/>
                <a:cs typeface="Antenna Regular"/>
              </a:rPr>
              <a:t>Maestría</a:t>
            </a:r>
            <a:endParaRPr sz="1050">
              <a:latin typeface="Antenna Regular"/>
              <a:cs typeface="Antenna Regular"/>
            </a:endParaRPr>
          </a:p>
          <a:p>
            <a:pPr marL="12700" marR="5080">
              <a:lnSpc>
                <a:spcPct val="135400"/>
              </a:lnSpc>
            </a:pPr>
            <a:r>
              <a:rPr sz="1050" spc="20">
                <a:solidFill>
                  <a:srgbClr val="FFFFFF"/>
                </a:solidFill>
                <a:latin typeface="Antenna Regular"/>
                <a:cs typeface="Antenna Regular"/>
              </a:rPr>
              <a:t>en </a:t>
            </a:r>
            <a:r>
              <a:rPr sz="1050" spc="10">
                <a:solidFill>
                  <a:srgbClr val="FFFFFF"/>
                </a:solidFill>
                <a:latin typeface="Antenna Regular"/>
                <a:cs typeface="Antenna Regular"/>
              </a:rPr>
              <a:t>Inteligencia  Analítica </a:t>
            </a:r>
            <a:r>
              <a:rPr sz="1050" spc="20">
                <a:solidFill>
                  <a:srgbClr val="FFFFFF"/>
                </a:solidFill>
                <a:latin typeface="Antenna Regular"/>
                <a:cs typeface="Antenna Regular"/>
              </a:rPr>
              <a:t>de</a:t>
            </a:r>
            <a:r>
              <a:rPr sz="1050" spc="-50">
                <a:solidFill>
                  <a:srgbClr val="FFFFFF"/>
                </a:solidFill>
                <a:latin typeface="Antenna Regular"/>
                <a:cs typeface="Antenna Regular"/>
              </a:rPr>
              <a:t> </a:t>
            </a:r>
            <a:r>
              <a:rPr sz="1050" spc="5">
                <a:solidFill>
                  <a:srgbClr val="FFFFFF"/>
                </a:solidFill>
                <a:latin typeface="Antenna Regular"/>
                <a:cs typeface="Antenna Regular"/>
              </a:rPr>
              <a:t>Datos</a:t>
            </a:r>
            <a:endParaRPr sz="1050">
              <a:latin typeface="Antenna Regular"/>
              <a:cs typeface="Antenna Regular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E7F524E-3578-694F-8B3A-B9F7614835BB}"/>
              </a:ext>
            </a:extLst>
          </p:cNvPr>
          <p:cNvSpPr/>
          <p:nvPr userDrawn="1"/>
        </p:nvSpPr>
        <p:spPr>
          <a:xfrm>
            <a:off x="4004868" y="3601885"/>
            <a:ext cx="1915934" cy="2043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EC9A71DD-7A7A-394D-AF6A-CB8EB66CEC61}"/>
              </a:ext>
            </a:extLst>
          </p:cNvPr>
          <p:cNvSpPr/>
          <p:nvPr userDrawn="1"/>
        </p:nvSpPr>
        <p:spPr>
          <a:xfrm>
            <a:off x="10121962" y="4038600"/>
            <a:ext cx="5216435" cy="25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Título 26">
            <a:extLst>
              <a:ext uri="{FF2B5EF4-FFF2-40B4-BE49-F238E27FC236}">
                <a16:creationId xmlns:a16="http://schemas.microsoft.com/office/drawing/2014/main" id="{65233DF7-DB3D-3249-B538-FC5B3FD4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1963" y="4282998"/>
            <a:ext cx="5537138" cy="188920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latin typeface="Antenna Bold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5393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C9309B89-4ED5-AA49-9802-FEAB4CE7114F}"/>
              </a:ext>
            </a:extLst>
          </p:cNvPr>
          <p:cNvSpPr/>
          <p:nvPr userDrawn="1"/>
        </p:nvSpPr>
        <p:spPr>
          <a:xfrm>
            <a:off x="0" y="1917687"/>
            <a:ext cx="17272368" cy="1752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F42F40-B4EF-ED45-9E14-8191A8E6D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75" y="4354513"/>
            <a:ext cx="14962188" cy="1816466"/>
          </a:xfrm>
          <a:prstGeom prst="rect">
            <a:avLst/>
          </a:prstGeom>
        </p:spPr>
        <p:txBody>
          <a:bodyPr anchor="ctr" anchorCtr="1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061EFF-6FC8-8F45-928F-918143BF5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4275" y="6527800"/>
            <a:ext cx="14962188" cy="21336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F46A54-68A9-F443-B652-4A84DA49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9B3871-8DFB-6046-9535-1B871D2EF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7B3C3F-F92D-FA4D-9764-3540C708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F1F76395-B36B-264C-995D-395AEE90D725}"/>
              </a:ext>
            </a:extLst>
          </p:cNvPr>
          <p:cNvSpPr/>
          <p:nvPr userDrawn="1"/>
        </p:nvSpPr>
        <p:spPr>
          <a:xfrm>
            <a:off x="4102100" y="4121133"/>
            <a:ext cx="9241234" cy="25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9">
            <a:extLst>
              <a:ext uri="{FF2B5EF4-FFF2-40B4-BE49-F238E27FC236}">
                <a16:creationId xmlns:a16="http://schemas.microsoft.com/office/drawing/2014/main" id="{0C9D6371-2DDB-FC47-838F-C03981A3D248}"/>
              </a:ext>
            </a:extLst>
          </p:cNvPr>
          <p:cNvSpPr/>
          <p:nvPr userDrawn="1"/>
        </p:nvSpPr>
        <p:spPr>
          <a:xfrm>
            <a:off x="0" y="1917700"/>
            <a:ext cx="17348200" cy="1752600"/>
          </a:xfrm>
          <a:custGeom>
            <a:avLst/>
            <a:gdLst/>
            <a:ahLst/>
            <a:cxnLst/>
            <a:rect l="l" t="t" r="r" b="b"/>
            <a:pathLst>
              <a:path w="17348200" h="1752600">
                <a:moveTo>
                  <a:pt x="0" y="1752600"/>
                </a:moveTo>
                <a:lnTo>
                  <a:pt x="17348200" y="1752600"/>
                </a:lnTo>
                <a:lnTo>
                  <a:pt x="17348200" y="0"/>
                </a:lnTo>
                <a:lnTo>
                  <a:pt x="0" y="0"/>
                </a:lnTo>
                <a:lnTo>
                  <a:pt x="0" y="1752600"/>
                </a:lnTo>
                <a:close/>
              </a:path>
            </a:pathLst>
          </a:custGeom>
          <a:solidFill>
            <a:srgbClr val="BCCCD3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78778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96D88-6EC7-D146-9B3A-C8DB6B6C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1404937"/>
            <a:ext cx="5594350" cy="152082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8105B2-4330-914B-B152-C3FE7E53B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5525" y="1404938"/>
            <a:ext cx="8782050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743D74-ECFC-1243-8BFC-8A027D687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5388" y="2925763"/>
            <a:ext cx="5594350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D86FA6-6FF1-E04E-8C1C-4B46BC86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FAB447-360C-494E-B83D-0FC668C8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99BE8B-054E-104F-B926-FFBD75E2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39F4EE54-F5B2-BF4F-BEBF-BD9B6D4EB927}"/>
              </a:ext>
            </a:extLst>
          </p:cNvPr>
          <p:cNvSpPr/>
          <p:nvPr userDrawn="1"/>
        </p:nvSpPr>
        <p:spPr>
          <a:xfrm>
            <a:off x="7226300" y="1219200"/>
            <a:ext cx="9118600" cy="784860"/>
          </a:xfrm>
          <a:custGeom>
            <a:avLst/>
            <a:gdLst/>
            <a:ahLst/>
            <a:cxnLst/>
            <a:rect l="l" t="t" r="r" b="b"/>
            <a:pathLst>
              <a:path w="12776200" h="784860">
                <a:moveTo>
                  <a:pt x="0" y="0"/>
                </a:moveTo>
                <a:lnTo>
                  <a:pt x="12776200" y="0"/>
                </a:lnTo>
                <a:lnTo>
                  <a:pt x="12776200" y="784301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A76AE678-6447-4D4A-87B3-238B51C3469C}"/>
              </a:ext>
            </a:extLst>
          </p:cNvPr>
          <p:cNvSpPr/>
          <p:nvPr userDrawn="1"/>
        </p:nvSpPr>
        <p:spPr>
          <a:xfrm>
            <a:off x="7226300" y="7658418"/>
            <a:ext cx="9118600" cy="921385"/>
          </a:xfrm>
          <a:custGeom>
            <a:avLst/>
            <a:gdLst/>
            <a:ahLst/>
            <a:cxnLst/>
            <a:rect l="l" t="t" r="r" b="b"/>
            <a:pathLst>
              <a:path w="12776200" h="921384">
                <a:moveTo>
                  <a:pt x="12776200" y="921334"/>
                </a:moveTo>
                <a:lnTo>
                  <a:pt x="0" y="921334"/>
                </a:lnTo>
                <a:lnTo>
                  <a:pt x="0" y="0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61557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1FC3F-E0E6-394F-B8FD-527E0D1D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1404937"/>
            <a:ext cx="5594350" cy="152082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AA864-BD69-0F4A-973D-D9EF8A43D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525" y="1404938"/>
            <a:ext cx="8782050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F5398E-8F5C-DE4E-AC69-E81031124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5388" y="2925763"/>
            <a:ext cx="5594350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F9B3AF-C10B-9A4A-B093-A06D0DB5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631405-7611-8647-AEF1-38DA7D29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C65330-9D9C-9440-9F64-6A6A6D19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7913AA73-30F5-1B4A-BCB9-4C8B20F21D11}"/>
              </a:ext>
            </a:extLst>
          </p:cNvPr>
          <p:cNvSpPr/>
          <p:nvPr userDrawn="1"/>
        </p:nvSpPr>
        <p:spPr>
          <a:xfrm>
            <a:off x="7226300" y="1219200"/>
            <a:ext cx="9118600" cy="784860"/>
          </a:xfrm>
          <a:custGeom>
            <a:avLst/>
            <a:gdLst/>
            <a:ahLst/>
            <a:cxnLst/>
            <a:rect l="l" t="t" r="r" b="b"/>
            <a:pathLst>
              <a:path w="12776200" h="784860">
                <a:moveTo>
                  <a:pt x="0" y="0"/>
                </a:moveTo>
                <a:lnTo>
                  <a:pt x="12776200" y="0"/>
                </a:lnTo>
                <a:lnTo>
                  <a:pt x="12776200" y="784301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E7F0E087-6FBC-5141-ACF1-55D5B5CBE648}"/>
              </a:ext>
            </a:extLst>
          </p:cNvPr>
          <p:cNvSpPr/>
          <p:nvPr userDrawn="1"/>
        </p:nvSpPr>
        <p:spPr>
          <a:xfrm>
            <a:off x="7226300" y="7658418"/>
            <a:ext cx="9118600" cy="921385"/>
          </a:xfrm>
          <a:custGeom>
            <a:avLst/>
            <a:gdLst/>
            <a:ahLst/>
            <a:cxnLst/>
            <a:rect l="l" t="t" r="r" b="b"/>
            <a:pathLst>
              <a:path w="12776200" h="921384">
                <a:moveTo>
                  <a:pt x="12776200" y="921334"/>
                </a:moveTo>
                <a:lnTo>
                  <a:pt x="0" y="921334"/>
                </a:lnTo>
                <a:lnTo>
                  <a:pt x="0" y="0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9103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C0EDA-D105-2445-BA4B-A382EA4C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213" y="1341521"/>
            <a:ext cx="14963775" cy="106354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1856AE-E9BE-5F49-9917-DC5A0020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CE38AB0-49DC-8D41-9C2A-A658C2B3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88F65E-0A8A-BF4D-A9D1-13CDC1461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1735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B5370-FB7A-2649-8204-D17A3CBA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1328738"/>
            <a:ext cx="14962187" cy="103346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7D79AE-8C86-4242-98A4-37C728186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5388" y="2390775"/>
            <a:ext cx="733901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54A44B-23A9-9F4D-A015-75D033BAD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5388" y="3562350"/>
            <a:ext cx="7339012" cy="5240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BAAB34-0793-2343-9F76-51539B000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2050" y="2390775"/>
            <a:ext cx="737552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E869DC-CA15-2741-B13E-B20B2E40A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2050" y="3562350"/>
            <a:ext cx="7375525" cy="5240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1E851D-27EF-3944-AB5F-B49CC316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F15C6B8-0DA7-CB4F-AEAF-E97DF9AA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743C21-0EA8-B543-9578-2F5D5491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22358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6B2C1491-DE14-2F40-864C-0A93B5A9F6C6}"/>
              </a:ext>
            </a:extLst>
          </p:cNvPr>
          <p:cNvSpPr/>
          <p:nvPr userDrawn="1"/>
        </p:nvSpPr>
        <p:spPr>
          <a:xfrm>
            <a:off x="0" y="0"/>
            <a:ext cx="17348200" cy="9753600"/>
          </a:xfrm>
          <a:custGeom>
            <a:avLst/>
            <a:gdLst/>
            <a:ahLst/>
            <a:cxnLst/>
            <a:rect l="l" t="t" r="r" b="b"/>
            <a:pathLst>
              <a:path w="17348200" h="9753600">
                <a:moveTo>
                  <a:pt x="0" y="9753600"/>
                </a:moveTo>
                <a:lnTo>
                  <a:pt x="17348200" y="9753600"/>
                </a:lnTo>
                <a:lnTo>
                  <a:pt x="173482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solidFill>
            <a:srgbClr val="0113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87A484B-F601-1148-9946-C96E101EF2AB}"/>
              </a:ext>
            </a:extLst>
          </p:cNvPr>
          <p:cNvSpPr txBox="1"/>
          <p:nvPr userDrawn="1"/>
        </p:nvSpPr>
        <p:spPr>
          <a:xfrm>
            <a:off x="8256637" y="7987272"/>
            <a:ext cx="2221230" cy="938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50" b="1" spc="35">
                <a:solidFill>
                  <a:srgbClr val="F0F1F1"/>
                </a:solidFill>
                <a:latin typeface="Antenna Bold"/>
                <a:cs typeface="Antenna Bold"/>
              </a:rPr>
              <a:t>M</a:t>
            </a:r>
            <a:r>
              <a:rPr sz="5950" b="1" spc="20">
                <a:solidFill>
                  <a:srgbClr val="18CDE2"/>
                </a:solidFill>
                <a:latin typeface="Antenna Bold"/>
                <a:cs typeface="Antenna Bold"/>
              </a:rPr>
              <a:t>IA</a:t>
            </a:r>
            <a:r>
              <a:rPr sz="5950" b="1" spc="30">
                <a:solidFill>
                  <a:srgbClr val="F0F1F1"/>
                </a:solidFill>
                <a:latin typeface="Antenna Bold"/>
                <a:cs typeface="Antenna Bold"/>
              </a:rPr>
              <a:t>D</a:t>
            </a:r>
            <a:endParaRPr sz="5950">
              <a:latin typeface="Antenna Bold"/>
              <a:cs typeface="Antenna Bold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09E41A-FBA9-7E42-8BA5-0B474E84BCD6}"/>
              </a:ext>
            </a:extLst>
          </p:cNvPr>
          <p:cNvSpPr txBox="1"/>
          <p:nvPr userDrawn="1"/>
        </p:nvSpPr>
        <p:spPr>
          <a:xfrm>
            <a:off x="10983144" y="8298948"/>
            <a:ext cx="929640" cy="4972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750" spc="15">
                <a:solidFill>
                  <a:srgbClr val="FFFFFF"/>
                </a:solidFill>
                <a:latin typeface="Antenna Regular"/>
                <a:cs typeface="Antenna Regular"/>
              </a:rPr>
              <a:t>Maestría</a:t>
            </a:r>
            <a:endParaRPr sz="750">
              <a:latin typeface="Antenna Regular"/>
              <a:cs typeface="Antenna Regular"/>
            </a:endParaRPr>
          </a:p>
          <a:p>
            <a:pPr marL="12700" marR="5080">
              <a:lnSpc>
                <a:spcPct val="137500"/>
              </a:lnSpc>
            </a:pPr>
            <a:r>
              <a:rPr sz="750" spc="20">
                <a:solidFill>
                  <a:srgbClr val="FFFFFF"/>
                </a:solidFill>
                <a:latin typeface="Antenna Regular"/>
                <a:cs typeface="Antenna Regular"/>
              </a:rPr>
              <a:t>en </a:t>
            </a:r>
            <a:r>
              <a:rPr sz="750" spc="10">
                <a:solidFill>
                  <a:srgbClr val="FFFFFF"/>
                </a:solidFill>
                <a:latin typeface="Antenna Regular"/>
                <a:cs typeface="Antenna Regular"/>
              </a:rPr>
              <a:t>Inteligencia  </a:t>
            </a:r>
            <a:r>
              <a:rPr sz="750" spc="15">
                <a:solidFill>
                  <a:srgbClr val="FFFFFF"/>
                </a:solidFill>
                <a:latin typeface="Antenna Regular"/>
                <a:cs typeface="Antenna Regular"/>
              </a:rPr>
              <a:t>Analítica </a:t>
            </a:r>
            <a:r>
              <a:rPr sz="750" spc="20">
                <a:solidFill>
                  <a:srgbClr val="FFFFFF"/>
                </a:solidFill>
                <a:latin typeface="Antenna Regular"/>
                <a:cs typeface="Antenna Regular"/>
              </a:rPr>
              <a:t>de</a:t>
            </a:r>
            <a:r>
              <a:rPr sz="750" spc="-80">
                <a:solidFill>
                  <a:srgbClr val="FFFFFF"/>
                </a:solidFill>
                <a:latin typeface="Antenna Regular"/>
                <a:cs typeface="Antenna Regular"/>
              </a:rPr>
              <a:t> </a:t>
            </a:r>
            <a:r>
              <a:rPr sz="750" spc="10">
                <a:solidFill>
                  <a:srgbClr val="FFFFFF"/>
                </a:solidFill>
                <a:latin typeface="Antenna Regular"/>
                <a:cs typeface="Antenna Regular"/>
              </a:rPr>
              <a:t>Datos</a:t>
            </a:r>
            <a:endParaRPr sz="750">
              <a:latin typeface="Antenna Regular"/>
              <a:cs typeface="Antenna Regular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4547025-7A88-2C41-B374-4A0BD0006075}"/>
              </a:ext>
            </a:extLst>
          </p:cNvPr>
          <p:cNvSpPr/>
          <p:nvPr userDrawn="1"/>
        </p:nvSpPr>
        <p:spPr>
          <a:xfrm>
            <a:off x="9940352" y="7278090"/>
            <a:ext cx="1390129" cy="1482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EE63B38-385B-4542-8DC5-35BC06AA37D3}"/>
              </a:ext>
            </a:extLst>
          </p:cNvPr>
          <p:cNvSpPr/>
          <p:nvPr userDrawn="1"/>
        </p:nvSpPr>
        <p:spPr>
          <a:xfrm>
            <a:off x="12471400" y="7327900"/>
            <a:ext cx="0" cy="1536700"/>
          </a:xfrm>
          <a:custGeom>
            <a:avLst/>
            <a:gdLst/>
            <a:ahLst/>
            <a:cxnLst/>
            <a:rect l="l" t="t" r="r" b="b"/>
            <a:pathLst>
              <a:path h="1536700">
                <a:moveTo>
                  <a:pt x="0" y="0"/>
                </a:moveTo>
                <a:lnTo>
                  <a:pt x="0" y="15367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537BDE22-BCC3-B544-8CCC-CBFC6C93BF8C}"/>
              </a:ext>
            </a:extLst>
          </p:cNvPr>
          <p:cNvSpPr/>
          <p:nvPr userDrawn="1"/>
        </p:nvSpPr>
        <p:spPr>
          <a:xfrm>
            <a:off x="0" y="12699"/>
            <a:ext cx="7796720" cy="9740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2EFCD520-3910-8542-8B38-C0DB32A02B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30016" y="7278089"/>
            <a:ext cx="3125971" cy="709184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bg2"/>
                </a:solidFill>
                <a:latin typeface="Antenna Bold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27262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70143E76-A504-1E4B-B6FC-7D7BB768B4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3728085" cy="156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b="1" i="0" baseline="0">
                <a:noFill/>
                <a:latin typeface="Antenna Bold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10100" spc="-5">
                <a:solidFill>
                  <a:srgbClr val="F0F1F1"/>
                </a:solidFill>
              </a:rPr>
              <a:t>Haga clic para modificar el estilo de título del patrón</a:t>
            </a:r>
            <a:endParaRPr sz="1010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E7776BA-87D2-464A-9865-B05CC98C54BA}"/>
              </a:ext>
            </a:extLst>
          </p:cNvPr>
          <p:cNvSpPr/>
          <p:nvPr/>
        </p:nvSpPr>
        <p:spPr>
          <a:xfrm>
            <a:off x="0" y="0"/>
            <a:ext cx="173482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8F836A2-BD63-9B41-A860-88BF028C706D}"/>
              </a:ext>
            </a:extLst>
          </p:cNvPr>
          <p:cNvSpPr/>
          <p:nvPr/>
        </p:nvSpPr>
        <p:spPr>
          <a:xfrm>
            <a:off x="0" y="0"/>
            <a:ext cx="17348200" cy="9753600"/>
          </a:xfrm>
          <a:custGeom>
            <a:avLst/>
            <a:gdLst/>
            <a:ahLst/>
            <a:cxnLst/>
            <a:rect l="l" t="t" r="r" b="b"/>
            <a:pathLst>
              <a:path w="17348200" h="9753600">
                <a:moveTo>
                  <a:pt x="0" y="9753600"/>
                </a:moveTo>
                <a:lnTo>
                  <a:pt x="17348200" y="9753600"/>
                </a:lnTo>
                <a:lnTo>
                  <a:pt x="173482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solidFill>
            <a:srgbClr val="01132F">
              <a:alpha val="96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5ABB4C5D-A26F-E641-9B3E-65902DC30043}"/>
              </a:ext>
            </a:extLst>
          </p:cNvPr>
          <p:cNvSpPr txBox="1"/>
          <p:nvPr/>
        </p:nvSpPr>
        <p:spPr>
          <a:xfrm>
            <a:off x="10197796" y="5076918"/>
            <a:ext cx="1550035" cy="8210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300" spc="10">
                <a:solidFill>
                  <a:srgbClr val="FFFFFF"/>
                </a:solidFill>
                <a:latin typeface="Antenna Regular"/>
                <a:cs typeface="Antenna Regular"/>
              </a:rPr>
              <a:t>Maestría</a:t>
            </a:r>
            <a:endParaRPr sz="1300">
              <a:latin typeface="Antenna Regular"/>
              <a:cs typeface="Antenna Regular"/>
            </a:endParaRPr>
          </a:p>
          <a:p>
            <a:pPr marL="12700" marR="5080">
              <a:lnSpc>
                <a:spcPct val="133800"/>
              </a:lnSpc>
            </a:pPr>
            <a:r>
              <a:rPr sz="1300" spc="15">
                <a:solidFill>
                  <a:srgbClr val="FFFFFF"/>
                </a:solidFill>
                <a:latin typeface="Antenna Regular"/>
                <a:cs typeface="Antenna Regular"/>
              </a:rPr>
              <a:t>en </a:t>
            </a:r>
            <a:r>
              <a:rPr sz="1300" spc="5">
                <a:solidFill>
                  <a:srgbClr val="FFFFFF"/>
                </a:solidFill>
                <a:latin typeface="Antenna Regular"/>
                <a:cs typeface="Antenna Regular"/>
              </a:rPr>
              <a:t>Inteligencia  </a:t>
            </a:r>
            <a:r>
              <a:rPr sz="1300" spc="10">
                <a:solidFill>
                  <a:srgbClr val="FFFFFF"/>
                </a:solidFill>
                <a:latin typeface="Antenna Regular"/>
                <a:cs typeface="Antenna Regular"/>
              </a:rPr>
              <a:t>Analítica </a:t>
            </a:r>
            <a:r>
              <a:rPr sz="1300" spc="15">
                <a:solidFill>
                  <a:srgbClr val="FFFFFF"/>
                </a:solidFill>
                <a:latin typeface="Antenna Regular"/>
                <a:cs typeface="Antenna Regular"/>
              </a:rPr>
              <a:t>de</a:t>
            </a:r>
            <a:r>
              <a:rPr sz="1300" spc="-95">
                <a:solidFill>
                  <a:srgbClr val="FFFFFF"/>
                </a:solidFill>
                <a:latin typeface="Antenna Regular"/>
                <a:cs typeface="Antenna Regular"/>
              </a:rPr>
              <a:t> </a:t>
            </a:r>
            <a:r>
              <a:rPr sz="1300">
                <a:solidFill>
                  <a:srgbClr val="FFFFFF"/>
                </a:solidFill>
                <a:latin typeface="Antenna Regular"/>
                <a:cs typeface="Antenna Regular"/>
              </a:rPr>
              <a:t>Datos</a:t>
            </a:r>
            <a:endParaRPr sz="1300">
              <a:latin typeface="Antenna Regular"/>
              <a:cs typeface="Antenna Regular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80828E7D-989B-6E4A-8937-B28B24A90295}"/>
              </a:ext>
            </a:extLst>
          </p:cNvPr>
          <p:cNvSpPr/>
          <p:nvPr/>
        </p:nvSpPr>
        <p:spPr>
          <a:xfrm>
            <a:off x="8430843" y="3351478"/>
            <a:ext cx="2343873" cy="24950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4BEED967-6724-2243-8B29-25DFF0A0A407}"/>
              </a:ext>
            </a:extLst>
          </p:cNvPr>
          <p:cNvSpPr txBox="1">
            <a:spLocks/>
          </p:cNvSpPr>
          <p:nvPr/>
        </p:nvSpPr>
        <p:spPr>
          <a:xfrm>
            <a:off x="5874694" y="4506740"/>
            <a:ext cx="3728085" cy="1564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noFill/>
                <a:latin typeface="Antenna Bold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10100" spc="-5">
                <a:solidFill>
                  <a:srgbClr val="F0F1F1"/>
                </a:solidFill>
              </a:rPr>
              <a:t>M</a:t>
            </a:r>
            <a:r>
              <a:rPr lang="es-CO" sz="10100" spc="-5">
                <a:solidFill>
                  <a:srgbClr val="18CDE2"/>
                </a:solidFill>
              </a:rPr>
              <a:t>IA</a:t>
            </a:r>
            <a:r>
              <a:rPr lang="es-CO" sz="10100" spc="-5">
                <a:solidFill>
                  <a:srgbClr val="F0F1F1"/>
                </a:solidFill>
              </a:rPr>
              <a:t>D</a:t>
            </a:r>
            <a:endParaRPr lang="es-CO" sz="10100"/>
          </a:p>
        </p:txBody>
      </p:sp>
    </p:spTree>
    <p:extLst>
      <p:ext uri="{BB962C8B-B14F-4D97-AF65-F5344CB8AC3E}">
        <p14:creationId xmlns:p14="http://schemas.microsoft.com/office/powerpoint/2010/main" val="32579034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del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F385C290-A234-C241-9939-3B7D82F5287B}"/>
              </a:ext>
            </a:extLst>
          </p:cNvPr>
          <p:cNvSpPr/>
          <p:nvPr/>
        </p:nvSpPr>
        <p:spPr>
          <a:xfrm>
            <a:off x="0" y="0"/>
            <a:ext cx="79883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C768A84-8D4D-2945-86FD-DFDC3BF3294F}"/>
              </a:ext>
            </a:extLst>
          </p:cNvPr>
          <p:cNvSpPr/>
          <p:nvPr/>
        </p:nvSpPr>
        <p:spPr>
          <a:xfrm>
            <a:off x="0" y="0"/>
            <a:ext cx="7988300" cy="9753600"/>
          </a:xfrm>
          <a:custGeom>
            <a:avLst/>
            <a:gdLst/>
            <a:ahLst/>
            <a:cxnLst/>
            <a:rect l="l" t="t" r="r" b="b"/>
            <a:pathLst>
              <a:path w="7988300" h="9753600">
                <a:moveTo>
                  <a:pt x="0" y="9753600"/>
                </a:moveTo>
                <a:lnTo>
                  <a:pt x="7988300" y="9753600"/>
                </a:lnTo>
                <a:lnTo>
                  <a:pt x="79883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solidFill>
            <a:srgbClr val="01132F">
              <a:alpha val="96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4C36750-756A-214C-854A-A1FBDFFE8EEF}"/>
              </a:ext>
            </a:extLst>
          </p:cNvPr>
          <p:cNvSpPr txBox="1"/>
          <p:nvPr/>
        </p:nvSpPr>
        <p:spPr>
          <a:xfrm>
            <a:off x="1689100" y="4584306"/>
            <a:ext cx="3051810" cy="1283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250" b="1">
                <a:solidFill>
                  <a:srgbClr val="F0F1F1"/>
                </a:solidFill>
                <a:latin typeface="Antenna Bold"/>
                <a:cs typeface="Antenna Bold"/>
              </a:rPr>
              <a:t>M</a:t>
            </a:r>
            <a:r>
              <a:rPr sz="8250" b="1">
                <a:solidFill>
                  <a:srgbClr val="18CDE2"/>
                </a:solidFill>
                <a:latin typeface="Antenna Bold"/>
                <a:cs typeface="Antenna Bold"/>
              </a:rPr>
              <a:t>IA</a:t>
            </a:r>
            <a:r>
              <a:rPr sz="8250" b="1">
                <a:solidFill>
                  <a:srgbClr val="F0F1F1"/>
                </a:solidFill>
                <a:latin typeface="Antenna Bold"/>
                <a:cs typeface="Antenna Bold"/>
              </a:rPr>
              <a:t>D</a:t>
            </a:r>
            <a:endParaRPr sz="8250">
              <a:latin typeface="Antenna Bold"/>
              <a:cs typeface="Antenna Bold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D2990EF3-CFE2-134C-A392-F024079E91DD}"/>
              </a:ext>
            </a:extLst>
          </p:cNvPr>
          <p:cNvSpPr txBox="1"/>
          <p:nvPr/>
        </p:nvSpPr>
        <p:spPr>
          <a:xfrm>
            <a:off x="5446897" y="5013861"/>
            <a:ext cx="1271905" cy="67564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050" spc="10">
                <a:solidFill>
                  <a:srgbClr val="FFFFFF"/>
                </a:solidFill>
                <a:latin typeface="Antenna Regular"/>
                <a:cs typeface="Antenna Regular"/>
              </a:rPr>
              <a:t>Maestría</a:t>
            </a:r>
            <a:endParaRPr sz="1050">
              <a:latin typeface="Antenna Regular"/>
              <a:cs typeface="Antenna Regular"/>
            </a:endParaRPr>
          </a:p>
          <a:p>
            <a:pPr marL="12700" marR="5080">
              <a:lnSpc>
                <a:spcPct val="135400"/>
              </a:lnSpc>
            </a:pPr>
            <a:r>
              <a:rPr sz="1050" spc="20">
                <a:solidFill>
                  <a:srgbClr val="FFFFFF"/>
                </a:solidFill>
                <a:latin typeface="Antenna Regular"/>
                <a:cs typeface="Antenna Regular"/>
              </a:rPr>
              <a:t>en </a:t>
            </a:r>
            <a:r>
              <a:rPr sz="1050" spc="10">
                <a:solidFill>
                  <a:srgbClr val="FFFFFF"/>
                </a:solidFill>
                <a:latin typeface="Antenna Regular"/>
                <a:cs typeface="Antenna Regular"/>
              </a:rPr>
              <a:t>Inteligencia  Analítica </a:t>
            </a:r>
            <a:r>
              <a:rPr sz="1050" spc="20">
                <a:solidFill>
                  <a:srgbClr val="FFFFFF"/>
                </a:solidFill>
                <a:latin typeface="Antenna Regular"/>
                <a:cs typeface="Antenna Regular"/>
              </a:rPr>
              <a:t>de</a:t>
            </a:r>
            <a:r>
              <a:rPr sz="1050" spc="-50">
                <a:solidFill>
                  <a:srgbClr val="FFFFFF"/>
                </a:solidFill>
                <a:latin typeface="Antenna Regular"/>
                <a:cs typeface="Antenna Regular"/>
              </a:rPr>
              <a:t> </a:t>
            </a:r>
            <a:r>
              <a:rPr sz="1050" spc="5">
                <a:solidFill>
                  <a:srgbClr val="FFFFFF"/>
                </a:solidFill>
                <a:latin typeface="Antenna Regular"/>
                <a:cs typeface="Antenna Regular"/>
              </a:rPr>
              <a:t>Datos</a:t>
            </a:r>
            <a:endParaRPr sz="1050">
              <a:latin typeface="Antenna Regular"/>
              <a:cs typeface="Antenna Regular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E7F524E-3578-694F-8B3A-B9F7614835BB}"/>
              </a:ext>
            </a:extLst>
          </p:cNvPr>
          <p:cNvSpPr/>
          <p:nvPr/>
        </p:nvSpPr>
        <p:spPr>
          <a:xfrm>
            <a:off x="4004868" y="3601885"/>
            <a:ext cx="1915934" cy="2043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EC9A71DD-7A7A-394D-AF6A-CB8EB66CEC61}"/>
              </a:ext>
            </a:extLst>
          </p:cNvPr>
          <p:cNvSpPr/>
          <p:nvPr/>
        </p:nvSpPr>
        <p:spPr>
          <a:xfrm>
            <a:off x="10121962" y="4038600"/>
            <a:ext cx="5216435" cy="25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Título 26">
            <a:extLst>
              <a:ext uri="{FF2B5EF4-FFF2-40B4-BE49-F238E27FC236}">
                <a16:creationId xmlns:a16="http://schemas.microsoft.com/office/drawing/2014/main" id="{65233DF7-DB3D-3249-B538-FC5B3FD4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1963" y="4282998"/>
            <a:ext cx="5537138" cy="188920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latin typeface="Antenna Bold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3C0E6CBF-7289-4AA6-BEB1-F1CD8208A185}"/>
              </a:ext>
            </a:extLst>
          </p:cNvPr>
          <p:cNvSpPr/>
          <p:nvPr userDrawn="1"/>
        </p:nvSpPr>
        <p:spPr>
          <a:xfrm>
            <a:off x="0" y="0"/>
            <a:ext cx="7988300" cy="975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7EA84F35-1A88-48A7-BCA4-96B057EB3591}"/>
              </a:ext>
            </a:extLst>
          </p:cNvPr>
          <p:cNvSpPr/>
          <p:nvPr userDrawn="1"/>
        </p:nvSpPr>
        <p:spPr>
          <a:xfrm>
            <a:off x="0" y="0"/>
            <a:ext cx="7988300" cy="9753600"/>
          </a:xfrm>
          <a:custGeom>
            <a:avLst/>
            <a:gdLst/>
            <a:ahLst/>
            <a:cxnLst/>
            <a:rect l="l" t="t" r="r" b="b"/>
            <a:pathLst>
              <a:path w="7988300" h="9753600">
                <a:moveTo>
                  <a:pt x="0" y="9753600"/>
                </a:moveTo>
                <a:lnTo>
                  <a:pt x="7988300" y="9753600"/>
                </a:lnTo>
                <a:lnTo>
                  <a:pt x="79883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solidFill>
            <a:srgbClr val="01132F">
              <a:alpha val="96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9E48DB2F-555A-40BF-BF02-21232A37A4DB}"/>
              </a:ext>
            </a:extLst>
          </p:cNvPr>
          <p:cNvSpPr txBox="1"/>
          <p:nvPr userDrawn="1"/>
        </p:nvSpPr>
        <p:spPr>
          <a:xfrm>
            <a:off x="1689100" y="4584306"/>
            <a:ext cx="3051810" cy="1283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250" b="1">
                <a:solidFill>
                  <a:srgbClr val="F0F1F1"/>
                </a:solidFill>
                <a:latin typeface="Antenna Bold"/>
                <a:cs typeface="Antenna Bold"/>
              </a:rPr>
              <a:t>M</a:t>
            </a:r>
            <a:r>
              <a:rPr sz="8250" b="1">
                <a:solidFill>
                  <a:srgbClr val="18CDE2"/>
                </a:solidFill>
                <a:latin typeface="Antenna Bold"/>
                <a:cs typeface="Antenna Bold"/>
              </a:rPr>
              <a:t>IA</a:t>
            </a:r>
            <a:r>
              <a:rPr sz="8250" b="1">
                <a:solidFill>
                  <a:srgbClr val="F0F1F1"/>
                </a:solidFill>
                <a:latin typeface="Antenna Bold"/>
                <a:cs typeface="Antenna Bold"/>
              </a:rPr>
              <a:t>D</a:t>
            </a:r>
            <a:endParaRPr sz="8250">
              <a:latin typeface="Antenna Bold"/>
              <a:cs typeface="Antenna Bold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B63A1F9F-04AD-4F62-AE1A-735CE3027F82}"/>
              </a:ext>
            </a:extLst>
          </p:cNvPr>
          <p:cNvSpPr txBox="1"/>
          <p:nvPr userDrawn="1"/>
        </p:nvSpPr>
        <p:spPr>
          <a:xfrm>
            <a:off x="5446897" y="5013861"/>
            <a:ext cx="1271905" cy="67564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050" spc="10">
                <a:solidFill>
                  <a:srgbClr val="FFFFFF"/>
                </a:solidFill>
                <a:latin typeface="Antenna Regular"/>
                <a:cs typeface="Antenna Regular"/>
              </a:rPr>
              <a:t>Maestría</a:t>
            </a:r>
            <a:endParaRPr sz="1050">
              <a:latin typeface="Antenna Regular"/>
              <a:cs typeface="Antenna Regular"/>
            </a:endParaRPr>
          </a:p>
          <a:p>
            <a:pPr marL="12700" marR="5080">
              <a:lnSpc>
                <a:spcPct val="135400"/>
              </a:lnSpc>
            </a:pPr>
            <a:r>
              <a:rPr sz="1050" spc="20">
                <a:solidFill>
                  <a:srgbClr val="FFFFFF"/>
                </a:solidFill>
                <a:latin typeface="Antenna Regular"/>
                <a:cs typeface="Antenna Regular"/>
              </a:rPr>
              <a:t>en </a:t>
            </a:r>
            <a:r>
              <a:rPr sz="1050" spc="10">
                <a:solidFill>
                  <a:srgbClr val="FFFFFF"/>
                </a:solidFill>
                <a:latin typeface="Antenna Regular"/>
                <a:cs typeface="Antenna Regular"/>
              </a:rPr>
              <a:t>Inteligencia  Analítica </a:t>
            </a:r>
            <a:r>
              <a:rPr sz="1050" spc="20">
                <a:solidFill>
                  <a:srgbClr val="FFFFFF"/>
                </a:solidFill>
                <a:latin typeface="Antenna Regular"/>
                <a:cs typeface="Antenna Regular"/>
              </a:rPr>
              <a:t>de</a:t>
            </a:r>
            <a:r>
              <a:rPr sz="1050" spc="-50">
                <a:solidFill>
                  <a:srgbClr val="FFFFFF"/>
                </a:solidFill>
                <a:latin typeface="Antenna Regular"/>
                <a:cs typeface="Antenna Regular"/>
              </a:rPr>
              <a:t> </a:t>
            </a:r>
            <a:r>
              <a:rPr sz="1050" spc="5">
                <a:solidFill>
                  <a:srgbClr val="FFFFFF"/>
                </a:solidFill>
                <a:latin typeface="Antenna Regular"/>
                <a:cs typeface="Antenna Regular"/>
              </a:rPr>
              <a:t>Datos</a:t>
            </a:r>
            <a:endParaRPr sz="1050">
              <a:latin typeface="Antenna Regular"/>
              <a:cs typeface="Antenna Regular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036BDD21-459F-4C2D-B779-7BB6340FBA9A}"/>
              </a:ext>
            </a:extLst>
          </p:cNvPr>
          <p:cNvSpPr/>
          <p:nvPr userDrawn="1"/>
        </p:nvSpPr>
        <p:spPr>
          <a:xfrm>
            <a:off x="4004868" y="3601885"/>
            <a:ext cx="1915934" cy="2043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A0DB3128-E079-4C97-896B-659E050E2499}"/>
              </a:ext>
            </a:extLst>
          </p:cNvPr>
          <p:cNvSpPr/>
          <p:nvPr userDrawn="1"/>
        </p:nvSpPr>
        <p:spPr>
          <a:xfrm>
            <a:off x="10121962" y="4038600"/>
            <a:ext cx="5216435" cy="25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5817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6B2C1491-DE14-2F40-864C-0A93B5A9F6C6}"/>
              </a:ext>
            </a:extLst>
          </p:cNvPr>
          <p:cNvSpPr/>
          <p:nvPr/>
        </p:nvSpPr>
        <p:spPr>
          <a:xfrm>
            <a:off x="0" y="0"/>
            <a:ext cx="17348200" cy="9753600"/>
          </a:xfrm>
          <a:custGeom>
            <a:avLst/>
            <a:gdLst/>
            <a:ahLst/>
            <a:cxnLst/>
            <a:rect l="l" t="t" r="r" b="b"/>
            <a:pathLst>
              <a:path w="17348200" h="9753600">
                <a:moveTo>
                  <a:pt x="0" y="9753600"/>
                </a:moveTo>
                <a:lnTo>
                  <a:pt x="17348200" y="9753600"/>
                </a:lnTo>
                <a:lnTo>
                  <a:pt x="173482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solidFill>
            <a:srgbClr val="0113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87A484B-F601-1148-9946-C96E101EF2AB}"/>
              </a:ext>
            </a:extLst>
          </p:cNvPr>
          <p:cNvSpPr txBox="1"/>
          <p:nvPr/>
        </p:nvSpPr>
        <p:spPr>
          <a:xfrm>
            <a:off x="8256637" y="7987272"/>
            <a:ext cx="2221230" cy="938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50" b="1" spc="35">
                <a:solidFill>
                  <a:srgbClr val="F0F1F1"/>
                </a:solidFill>
                <a:latin typeface="Antenna Bold"/>
                <a:cs typeface="Antenna Bold"/>
              </a:rPr>
              <a:t>M</a:t>
            </a:r>
            <a:r>
              <a:rPr sz="5950" b="1" spc="20">
                <a:solidFill>
                  <a:srgbClr val="18CDE2"/>
                </a:solidFill>
                <a:latin typeface="Antenna Bold"/>
                <a:cs typeface="Antenna Bold"/>
              </a:rPr>
              <a:t>IA</a:t>
            </a:r>
            <a:r>
              <a:rPr sz="5950" b="1" spc="30">
                <a:solidFill>
                  <a:srgbClr val="F0F1F1"/>
                </a:solidFill>
                <a:latin typeface="Antenna Bold"/>
                <a:cs typeface="Antenna Bold"/>
              </a:rPr>
              <a:t>D</a:t>
            </a:r>
            <a:endParaRPr sz="5950">
              <a:latin typeface="Antenna Bold"/>
              <a:cs typeface="Antenna Bold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B09E41A-FBA9-7E42-8BA5-0B474E84BCD6}"/>
              </a:ext>
            </a:extLst>
          </p:cNvPr>
          <p:cNvSpPr txBox="1"/>
          <p:nvPr/>
        </p:nvSpPr>
        <p:spPr>
          <a:xfrm>
            <a:off x="10983144" y="8298948"/>
            <a:ext cx="929640" cy="4972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750" spc="15">
                <a:solidFill>
                  <a:srgbClr val="FFFFFF"/>
                </a:solidFill>
                <a:latin typeface="Antenna Regular"/>
                <a:cs typeface="Antenna Regular"/>
              </a:rPr>
              <a:t>Maestría</a:t>
            </a:r>
            <a:endParaRPr sz="750">
              <a:latin typeface="Antenna Regular"/>
              <a:cs typeface="Antenna Regular"/>
            </a:endParaRPr>
          </a:p>
          <a:p>
            <a:pPr marL="12700" marR="5080">
              <a:lnSpc>
                <a:spcPct val="137500"/>
              </a:lnSpc>
            </a:pPr>
            <a:r>
              <a:rPr sz="750" spc="20">
                <a:solidFill>
                  <a:srgbClr val="FFFFFF"/>
                </a:solidFill>
                <a:latin typeface="Antenna Regular"/>
                <a:cs typeface="Antenna Regular"/>
              </a:rPr>
              <a:t>en </a:t>
            </a:r>
            <a:r>
              <a:rPr sz="750" spc="10">
                <a:solidFill>
                  <a:srgbClr val="FFFFFF"/>
                </a:solidFill>
                <a:latin typeface="Antenna Regular"/>
                <a:cs typeface="Antenna Regular"/>
              </a:rPr>
              <a:t>Inteligencia  </a:t>
            </a:r>
            <a:r>
              <a:rPr sz="750" spc="15">
                <a:solidFill>
                  <a:srgbClr val="FFFFFF"/>
                </a:solidFill>
                <a:latin typeface="Antenna Regular"/>
                <a:cs typeface="Antenna Regular"/>
              </a:rPr>
              <a:t>Analítica </a:t>
            </a:r>
            <a:r>
              <a:rPr sz="750" spc="20">
                <a:solidFill>
                  <a:srgbClr val="FFFFFF"/>
                </a:solidFill>
                <a:latin typeface="Antenna Regular"/>
                <a:cs typeface="Antenna Regular"/>
              </a:rPr>
              <a:t>de</a:t>
            </a:r>
            <a:r>
              <a:rPr sz="750" spc="-80">
                <a:solidFill>
                  <a:srgbClr val="FFFFFF"/>
                </a:solidFill>
                <a:latin typeface="Antenna Regular"/>
                <a:cs typeface="Antenna Regular"/>
              </a:rPr>
              <a:t> </a:t>
            </a:r>
            <a:r>
              <a:rPr sz="750" spc="10">
                <a:solidFill>
                  <a:srgbClr val="FFFFFF"/>
                </a:solidFill>
                <a:latin typeface="Antenna Regular"/>
                <a:cs typeface="Antenna Regular"/>
              </a:rPr>
              <a:t>Datos</a:t>
            </a:r>
            <a:endParaRPr sz="750">
              <a:latin typeface="Antenna Regular"/>
              <a:cs typeface="Antenna Regular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4547025-7A88-2C41-B374-4A0BD0006075}"/>
              </a:ext>
            </a:extLst>
          </p:cNvPr>
          <p:cNvSpPr/>
          <p:nvPr/>
        </p:nvSpPr>
        <p:spPr>
          <a:xfrm>
            <a:off x="9940352" y="7278090"/>
            <a:ext cx="1390129" cy="1482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EE63B38-385B-4542-8DC5-35BC06AA37D3}"/>
              </a:ext>
            </a:extLst>
          </p:cNvPr>
          <p:cNvSpPr/>
          <p:nvPr/>
        </p:nvSpPr>
        <p:spPr>
          <a:xfrm>
            <a:off x="12471400" y="7327900"/>
            <a:ext cx="0" cy="1536700"/>
          </a:xfrm>
          <a:custGeom>
            <a:avLst/>
            <a:gdLst/>
            <a:ahLst/>
            <a:cxnLst/>
            <a:rect l="l" t="t" r="r" b="b"/>
            <a:pathLst>
              <a:path h="1536700">
                <a:moveTo>
                  <a:pt x="0" y="0"/>
                </a:moveTo>
                <a:lnTo>
                  <a:pt x="0" y="15367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537BDE22-BCC3-B544-8CCC-CBFC6C93BF8C}"/>
              </a:ext>
            </a:extLst>
          </p:cNvPr>
          <p:cNvSpPr/>
          <p:nvPr/>
        </p:nvSpPr>
        <p:spPr>
          <a:xfrm>
            <a:off x="0" y="12699"/>
            <a:ext cx="7796720" cy="9740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2EFCD520-3910-8542-8B38-C0DB32A02B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30016" y="7278089"/>
            <a:ext cx="3125971" cy="709184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bg2"/>
                </a:solidFill>
                <a:latin typeface="Antenna Bold"/>
              </a:defRPr>
            </a:lvl1pPr>
          </a:lstStyle>
          <a:p>
            <a:r>
              <a:rPr lang="es-ES"/>
              <a:t>Título</a:t>
            </a:r>
            <a:endParaRPr lang="es-CO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83547BEA-4FDC-4369-A61E-03940733A7AD}"/>
              </a:ext>
            </a:extLst>
          </p:cNvPr>
          <p:cNvSpPr/>
          <p:nvPr userDrawn="1"/>
        </p:nvSpPr>
        <p:spPr>
          <a:xfrm>
            <a:off x="0" y="0"/>
            <a:ext cx="17348200" cy="9753600"/>
          </a:xfrm>
          <a:custGeom>
            <a:avLst/>
            <a:gdLst/>
            <a:ahLst/>
            <a:cxnLst/>
            <a:rect l="l" t="t" r="r" b="b"/>
            <a:pathLst>
              <a:path w="17348200" h="9753600">
                <a:moveTo>
                  <a:pt x="0" y="9753600"/>
                </a:moveTo>
                <a:lnTo>
                  <a:pt x="17348200" y="9753600"/>
                </a:lnTo>
                <a:lnTo>
                  <a:pt x="17348200" y="0"/>
                </a:lnTo>
                <a:lnTo>
                  <a:pt x="0" y="0"/>
                </a:lnTo>
                <a:lnTo>
                  <a:pt x="0" y="9753600"/>
                </a:lnTo>
                <a:close/>
              </a:path>
            </a:pathLst>
          </a:custGeom>
          <a:solidFill>
            <a:srgbClr val="0113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9789BB49-4F89-455F-8B82-B92A2B0EE044}"/>
              </a:ext>
            </a:extLst>
          </p:cNvPr>
          <p:cNvSpPr txBox="1"/>
          <p:nvPr userDrawn="1"/>
        </p:nvSpPr>
        <p:spPr>
          <a:xfrm>
            <a:off x="8256637" y="7987272"/>
            <a:ext cx="2221230" cy="938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50" b="1" spc="35">
                <a:solidFill>
                  <a:srgbClr val="F0F1F1"/>
                </a:solidFill>
                <a:latin typeface="Antenna Bold"/>
                <a:cs typeface="Antenna Bold"/>
              </a:rPr>
              <a:t>M</a:t>
            </a:r>
            <a:r>
              <a:rPr sz="5950" b="1" spc="20">
                <a:solidFill>
                  <a:srgbClr val="18CDE2"/>
                </a:solidFill>
                <a:latin typeface="Antenna Bold"/>
                <a:cs typeface="Antenna Bold"/>
              </a:rPr>
              <a:t>IA</a:t>
            </a:r>
            <a:r>
              <a:rPr sz="5950" b="1" spc="30">
                <a:solidFill>
                  <a:srgbClr val="F0F1F1"/>
                </a:solidFill>
                <a:latin typeface="Antenna Bold"/>
                <a:cs typeface="Antenna Bold"/>
              </a:rPr>
              <a:t>D</a:t>
            </a:r>
            <a:endParaRPr sz="5950">
              <a:latin typeface="Antenna Bold"/>
              <a:cs typeface="Antenna Bold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79F13FBE-768F-407D-8A9A-AE6E956532C5}"/>
              </a:ext>
            </a:extLst>
          </p:cNvPr>
          <p:cNvSpPr txBox="1"/>
          <p:nvPr userDrawn="1"/>
        </p:nvSpPr>
        <p:spPr>
          <a:xfrm>
            <a:off x="10983144" y="8298948"/>
            <a:ext cx="929640" cy="4972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750" spc="15">
                <a:solidFill>
                  <a:srgbClr val="FFFFFF"/>
                </a:solidFill>
                <a:latin typeface="Antenna Regular"/>
                <a:cs typeface="Antenna Regular"/>
              </a:rPr>
              <a:t>Maestría</a:t>
            </a:r>
            <a:endParaRPr sz="750">
              <a:latin typeface="Antenna Regular"/>
              <a:cs typeface="Antenna Regular"/>
            </a:endParaRPr>
          </a:p>
          <a:p>
            <a:pPr marL="12700" marR="5080">
              <a:lnSpc>
                <a:spcPct val="137500"/>
              </a:lnSpc>
            </a:pPr>
            <a:r>
              <a:rPr sz="750" spc="20">
                <a:solidFill>
                  <a:srgbClr val="FFFFFF"/>
                </a:solidFill>
                <a:latin typeface="Antenna Regular"/>
                <a:cs typeface="Antenna Regular"/>
              </a:rPr>
              <a:t>en </a:t>
            </a:r>
            <a:r>
              <a:rPr sz="750" spc="10">
                <a:solidFill>
                  <a:srgbClr val="FFFFFF"/>
                </a:solidFill>
                <a:latin typeface="Antenna Regular"/>
                <a:cs typeface="Antenna Regular"/>
              </a:rPr>
              <a:t>Inteligencia  </a:t>
            </a:r>
            <a:r>
              <a:rPr sz="750" spc="15">
                <a:solidFill>
                  <a:srgbClr val="FFFFFF"/>
                </a:solidFill>
                <a:latin typeface="Antenna Regular"/>
                <a:cs typeface="Antenna Regular"/>
              </a:rPr>
              <a:t>Analítica </a:t>
            </a:r>
            <a:r>
              <a:rPr sz="750" spc="20">
                <a:solidFill>
                  <a:srgbClr val="FFFFFF"/>
                </a:solidFill>
                <a:latin typeface="Antenna Regular"/>
                <a:cs typeface="Antenna Regular"/>
              </a:rPr>
              <a:t>de</a:t>
            </a:r>
            <a:r>
              <a:rPr sz="750" spc="-80">
                <a:solidFill>
                  <a:srgbClr val="FFFFFF"/>
                </a:solidFill>
                <a:latin typeface="Antenna Regular"/>
                <a:cs typeface="Antenna Regular"/>
              </a:rPr>
              <a:t> </a:t>
            </a:r>
            <a:r>
              <a:rPr sz="750" spc="10">
                <a:solidFill>
                  <a:srgbClr val="FFFFFF"/>
                </a:solidFill>
                <a:latin typeface="Antenna Regular"/>
                <a:cs typeface="Antenna Regular"/>
              </a:rPr>
              <a:t>Datos</a:t>
            </a:r>
            <a:endParaRPr sz="750">
              <a:latin typeface="Antenna Regular"/>
              <a:cs typeface="Antenna Regular"/>
            </a:endParaRP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FE3B41FE-F217-4488-B664-4F58AA446189}"/>
              </a:ext>
            </a:extLst>
          </p:cNvPr>
          <p:cNvSpPr/>
          <p:nvPr userDrawn="1"/>
        </p:nvSpPr>
        <p:spPr>
          <a:xfrm>
            <a:off x="9940352" y="7278090"/>
            <a:ext cx="1390129" cy="14824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F63BC64D-1A81-4844-B105-C02D30E2CE55}"/>
              </a:ext>
            </a:extLst>
          </p:cNvPr>
          <p:cNvSpPr/>
          <p:nvPr userDrawn="1"/>
        </p:nvSpPr>
        <p:spPr>
          <a:xfrm>
            <a:off x="12471400" y="7327900"/>
            <a:ext cx="0" cy="1536700"/>
          </a:xfrm>
          <a:custGeom>
            <a:avLst/>
            <a:gdLst/>
            <a:ahLst/>
            <a:cxnLst/>
            <a:rect l="l" t="t" r="r" b="b"/>
            <a:pathLst>
              <a:path h="1536700">
                <a:moveTo>
                  <a:pt x="0" y="0"/>
                </a:moveTo>
                <a:lnTo>
                  <a:pt x="0" y="153670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807EEC0C-7422-4F09-AF9D-20EAED862CEE}"/>
              </a:ext>
            </a:extLst>
          </p:cNvPr>
          <p:cNvSpPr/>
          <p:nvPr userDrawn="1"/>
        </p:nvSpPr>
        <p:spPr>
          <a:xfrm>
            <a:off x="0" y="12699"/>
            <a:ext cx="7796720" cy="9740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66813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Encabezado en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80EFF-90C6-FE48-A1EA-51EB13824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2300" y="3340195"/>
            <a:ext cx="14187488" cy="1063543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3F50FD-DC08-5140-A4D1-C801A9CA5A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595336"/>
            <a:ext cx="14187488" cy="1881663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 anchorCtr="1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64BC35-D18F-C84F-84C6-A2E9AD29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CF7541-EFD1-494D-985E-6CB9C9CB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A7EF88C-1EC0-B94A-BE51-EC8901F73648}"/>
              </a:ext>
            </a:extLst>
          </p:cNvPr>
          <p:cNvSpPr/>
          <p:nvPr userDrawn="1"/>
        </p:nvSpPr>
        <p:spPr>
          <a:xfrm>
            <a:off x="3949700" y="3056219"/>
            <a:ext cx="9241234" cy="28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95473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0020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C0EDA-D105-2445-BA4B-A382EA4C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213" y="1341521"/>
            <a:ext cx="14963775" cy="106354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1856AE-E9BE-5F49-9917-DC5A0020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CE38AB0-49DC-8D41-9C2A-A658C2B3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88F65E-0A8A-BF4D-A9D1-13CDC1461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60181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C9309B89-4ED5-AA49-9802-FEAB4CE7114F}"/>
              </a:ext>
            </a:extLst>
          </p:cNvPr>
          <p:cNvSpPr/>
          <p:nvPr userDrawn="1"/>
        </p:nvSpPr>
        <p:spPr>
          <a:xfrm>
            <a:off x="0" y="1917687"/>
            <a:ext cx="17272368" cy="1752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F42F40-B4EF-ED45-9E14-8191A8E6D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75" y="4354513"/>
            <a:ext cx="14962188" cy="1816466"/>
          </a:xfrm>
          <a:prstGeom prst="rect">
            <a:avLst/>
          </a:prstGeom>
        </p:spPr>
        <p:txBody>
          <a:bodyPr anchor="ctr" anchorCtr="1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061EFF-6FC8-8F45-928F-918143BF5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4275" y="6527800"/>
            <a:ext cx="14962188" cy="21336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F46A54-68A9-F443-B652-4A84DA49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9B3871-8DFB-6046-9535-1B871D2EF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7B3C3F-F92D-FA4D-9764-3540C708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F1F76395-B36B-264C-995D-395AEE90D725}"/>
              </a:ext>
            </a:extLst>
          </p:cNvPr>
          <p:cNvSpPr/>
          <p:nvPr userDrawn="1"/>
        </p:nvSpPr>
        <p:spPr>
          <a:xfrm>
            <a:off x="4102100" y="4121133"/>
            <a:ext cx="9241234" cy="25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9">
            <a:extLst>
              <a:ext uri="{FF2B5EF4-FFF2-40B4-BE49-F238E27FC236}">
                <a16:creationId xmlns:a16="http://schemas.microsoft.com/office/drawing/2014/main" id="{0C9D6371-2DDB-FC47-838F-C03981A3D248}"/>
              </a:ext>
            </a:extLst>
          </p:cNvPr>
          <p:cNvSpPr/>
          <p:nvPr userDrawn="1"/>
        </p:nvSpPr>
        <p:spPr>
          <a:xfrm>
            <a:off x="0" y="1917700"/>
            <a:ext cx="17348200" cy="1752600"/>
          </a:xfrm>
          <a:custGeom>
            <a:avLst/>
            <a:gdLst/>
            <a:ahLst/>
            <a:cxnLst/>
            <a:rect l="l" t="t" r="r" b="b"/>
            <a:pathLst>
              <a:path w="17348200" h="1752600">
                <a:moveTo>
                  <a:pt x="0" y="1752600"/>
                </a:moveTo>
                <a:lnTo>
                  <a:pt x="17348200" y="1752600"/>
                </a:lnTo>
                <a:lnTo>
                  <a:pt x="17348200" y="0"/>
                </a:lnTo>
                <a:lnTo>
                  <a:pt x="0" y="0"/>
                </a:lnTo>
                <a:lnTo>
                  <a:pt x="0" y="1752600"/>
                </a:lnTo>
                <a:close/>
              </a:path>
            </a:pathLst>
          </a:custGeom>
          <a:solidFill>
            <a:srgbClr val="BCCCD3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47570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1FC3F-E0E6-394F-B8FD-527E0D1D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1404937"/>
            <a:ext cx="5594350" cy="152082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AA864-BD69-0F4A-973D-D9EF8A43D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525" y="1404938"/>
            <a:ext cx="8782050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F5398E-8F5C-DE4E-AC69-E81031124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5388" y="2925763"/>
            <a:ext cx="5594350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F9B3AF-C10B-9A4A-B093-A06D0DB5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631405-7611-8647-AEF1-38DA7D29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C65330-9D9C-9440-9F64-6A6A6D19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7913AA73-30F5-1B4A-BCB9-4C8B20F21D11}"/>
              </a:ext>
            </a:extLst>
          </p:cNvPr>
          <p:cNvSpPr/>
          <p:nvPr userDrawn="1"/>
        </p:nvSpPr>
        <p:spPr>
          <a:xfrm>
            <a:off x="7226300" y="1219200"/>
            <a:ext cx="9118600" cy="784860"/>
          </a:xfrm>
          <a:custGeom>
            <a:avLst/>
            <a:gdLst/>
            <a:ahLst/>
            <a:cxnLst/>
            <a:rect l="l" t="t" r="r" b="b"/>
            <a:pathLst>
              <a:path w="12776200" h="784860">
                <a:moveTo>
                  <a:pt x="0" y="0"/>
                </a:moveTo>
                <a:lnTo>
                  <a:pt x="12776200" y="0"/>
                </a:lnTo>
                <a:lnTo>
                  <a:pt x="12776200" y="784301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E7F0E087-6FBC-5141-ACF1-55D5B5CBE648}"/>
              </a:ext>
            </a:extLst>
          </p:cNvPr>
          <p:cNvSpPr/>
          <p:nvPr userDrawn="1"/>
        </p:nvSpPr>
        <p:spPr>
          <a:xfrm>
            <a:off x="7226300" y="7658418"/>
            <a:ext cx="9118600" cy="921385"/>
          </a:xfrm>
          <a:custGeom>
            <a:avLst/>
            <a:gdLst/>
            <a:ahLst/>
            <a:cxnLst/>
            <a:rect l="l" t="t" r="r" b="b"/>
            <a:pathLst>
              <a:path w="12776200" h="921384">
                <a:moveTo>
                  <a:pt x="12776200" y="921334"/>
                </a:moveTo>
                <a:lnTo>
                  <a:pt x="0" y="921334"/>
                </a:lnTo>
                <a:lnTo>
                  <a:pt x="0" y="0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64155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96D88-6EC7-D146-9B3A-C8DB6B6C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1404937"/>
            <a:ext cx="5594350" cy="152082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8105B2-4330-914B-B152-C3FE7E53B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5525" y="1404938"/>
            <a:ext cx="8782050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743D74-ECFC-1243-8BFC-8A027D687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5388" y="2925763"/>
            <a:ext cx="5594350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D86FA6-6FF1-E04E-8C1C-4B46BC86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FAB447-360C-494E-B83D-0FC668C8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99BE8B-054E-104F-B926-FFBD75E2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39F4EE54-F5B2-BF4F-BEBF-BD9B6D4EB927}"/>
              </a:ext>
            </a:extLst>
          </p:cNvPr>
          <p:cNvSpPr/>
          <p:nvPr userDrawn="1"/>
        </p:nvSpPr>
        <p:spPr>
          <a:xfrm>
            <a:off x="7226300" y="1219200"/>
            <a:ext cx="9118600" cy="784860"/>
          </a:xfrm>
          <a:custGeom>
            <a:avLst/>
            <a:gdLst/>
            <a:ahLst/>
            <a:cxnLst/>
            <a:rect l="l" t="t" r="r" b="b"/>
            <a:pathLst>
              <a:path w="12776200" h="784860">
                <a:moveTo>
                  <a:pt x="0" y="0"/>
                </a:moveTo>
                <a:lnTo>
                  <a:pt x="12776200" y="0"/>
                </a:lnTo>
                <a:lnTo>
                  <a:pt x="12776200" y="784301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A76AE678-6447-4D4A-87B3-238B51C3469C}"/>
              </a:ext>
            </a:extLst>
          </p:cNvPr>
          <p:cNvSpPr/>
          <p:nvPr userDrawn="1"/>
        </p:nvSpPr>
        <p:spPr>
          <a:xfrm>
            <a:off x="7226300" y="7658418"/>
            <a:ext cx="9118600" cy="921385"/>
          </a:xfrm>
          <a:custGeom>
            <a:avLst/>
            <a:gdLst/>
            <a:ahLst/>
            <a:cxnLst/>
            <a:rect l="l" t="t" r="r" b="b"/>
            <a:pathLst>
              <a:path w="12776200" h="921384">
                <a:moveTo>
                  <a:pt x="12776200" y="921334"/>
                </a:moveTo>
                <a:lnTo>
                  <a:pt x="0" y="921334"/>
                </a:lnTo>
                <a:lnTo>
                  <a:pt x="0" y="0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85457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Personaje a la izquierda con encabe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B65C5-CC1E-6F4E-88AB-F4FD3BF3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0" y="1341519"/>
            <a:ext cx="7481888" cy="1063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07063-710F-B54B-8806-2C66D272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4100" y="2597150"/>
            <a:ext cx="7481888" cy="6188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84FDDE-4647-D748-AB06-B1EBAEB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C5763-B804-7540-ADB6-CEE7F6D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5E3F7E-EE8A-344F-86DF-3E1493EA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17489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B5370-FB7A-2649-8204-D17A3CBA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1328738"/>
            <a:ext cx="14962187" cy="103346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7D79AE-8C86-4242-98A4-37C728186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5388" y="2390775"/>
            <a:ext cx="733901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54A44B-23A9-9F4D-A015-75D033BAD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5388" y="3562350"/>
            <a:ext cx="7339012" cy="5240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BAAB34-0793-2343-9F76-51539B000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2050" y="2390775"/>
            <a:ext cx="737552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E869DC-CA15-2741-B13E-B20B2E40A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2050" y="3562350"/>
            <a:ext cx="7375525" cy="5240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1E851D-27EF-3944-AB5F-B49CC316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F15C6B8-0DA7-CB4F-AEAF-E97DF9AA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743C21-0EA8-B543-9578-2F5D5491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02040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5A7D39E3-2411-1041-84B6-17A1DD01BCBD}"/>
              </a:ext>
            </a:extLst>
          </p:cNvPr>
          <p:cNvSpPr/>
          <p:nvPr userDrawn="1"/>
        </p:nvSpPr>
        <p:spPr>
          <a:xfrm>
            <a:off x="0" y="0"/>
            <a:ext cx="17348200" cy="9734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880EFF-90C6-FE48-A1EA-51EB13824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8525" y="3228788"/>
            <a:ext cx="13011150" cy="17639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3F50FD-DC08-5140-A4D1-C801A9CA5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9699" y="5122863"/>
            <a:ext cx="9241235" cy="1190532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64BC35-D18F-C84F-84C6-A2E9AD29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CF7541-EFD1-494D-985E-6CB9C9CB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A7EF88C-1EC0-B94A-BE51-EC8901F73648}"/>
              </a:ext>
            </a:extLst>
          </p:cNvPr>
          <p:cNvSpPr/>
          <p:nvPr userDrawn="1"/>
        </p:nvSpPr>
        <p:spPr>
          <a:xfrm>
            <a:off x="3949700" y="3056219"/>
            <a:ext cx="9241234" cy="28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27000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B65C5-CC1E-6F4E-88AB-F4FD3BF3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213" y="1341521"/>
            <a:ext cx="14963775" cy="106354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07063-710F-B54B-8806-2C66D272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1900" y="2667000"/>
            <a:ext cx="13654088" cy="61182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84FDDE-4647-D748-AB06-B1EBAEB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C5763-B804-7540-ADB6-CEE7F6D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5E3F7E-EE8A-344F-86DF-3E1493EA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object 16">
            <a:extLst>
              <a:ext uri="{FF2B5EF4-FFF2-40B4-BE49-F238E27FC236}">
                <a16:creationId xmlns:a16="http://schemas.microsoft.com/office/drawing/2014/main" id="{FCF48A0B-9BBF-EF40-8DB1-C75A0DFBB9FC}"/>
              </a:ext>
            </a:extLst>
          </p:cNvPr>
          <p:cNvSpPr/>
          <p:nvPr userDrawn="1"/>
        </p:nvSpPr>
        <p:spPr>
          <a:xfrm>
            <a:off x="2501900" y="2514600"/>
            <a:ext cx="3698240" cy="0"/>
          </a:xfrm>
          <a:custGeom>
            <a:avLst/>
            <a:gdLst/>
            <a:ahLst/>
            <a:cxnLst/>
            <a:rect l="l" t="t" r="r" b="b"/>
            <a:pathLst>
              <a:path w="3698240">
                <a:moveTo>
                  <a:pt x="0" y="0"/>
                </a:moveTo>
                <a:lnTo>
                  <a:pt x="3697732" y="0"/>
                </a:lnTo>
              </a:path>
            </a:pathLst>
          </a:custGeom>
          <a:ln w="25400">
            <a:solidFill>
              <a:srgbClr val="F793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44506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C9309B89-4ED5-AA49-9802-FEAB4CE7114F}"/>
              </a:ext>
            </a:extLst>
          </p:cNvPr>
          <p:cNvSpPr/>
          <p:nvPr userDrawn="1"/>
        </p:nvSpPr>
        <p:spPr>
          <a:xfrm>
            <a:off x="0" y="1917687"/>
            <a:ext cx="17272368" cy="1752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F42F40-B4EF-ED45-9E14-8191A8E6D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275" y="4354513"/>
            <a:ext cx="14962188" cy="1816466"/>
          </a:xfrm>
          <a:prstGeom prst="rect">
            <a:avLst/>
          </a:prstGeom>
        </p:spPr>
        <p:txBody>
          <a:bodyPr anchor="ctr" anchorCtr="1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061EFF-6FC8-8F45-928F-918143BF5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4275" y="6527800"/>
            <a:ext cx="14962188" cy="21336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F46A54-68A9-F443-B652-4A84DA49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9B3871-8DFB-6046-9535-1B871D2EF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7B3C3F-F92D-FA4D-9764-3540C708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F1F76395-B36B-264C-995D-395AEE90D725}"/>
              </a:ext>
            </a:extLst>
          </p:cNvPr>
          <p:cNvSpPr/>
          <p:nvPr userDrawn="1"/>
        </p:nvSpPr>
        <p:spPr>
          <a:xfrm>
            <a:off x="4102100" y="4121133"/>
            <a:ext cx="9241234" cy="25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9">
            <a:extLst>
              <a:ext uri="{FF2B5EF4-FFF2-40B4-BE49-F238E27FC236}">
                <a16:creationId xmlns:a16="http://schemas.microsoft.com/office/drawing/2014/main" id="{0C9D6371-2DDB-FC47-838F-C03981A3D248}"/>
              </a:ext>
            </a:extLst>
          </p:cNvPr>
          <p:cNvSpPr/>
          <p:nvPr userDrawn="1"/>
        </p:nvSpPr>
        <p:spPr>
          <a:xfrm>
            <a:off x="0" y="1917700"/>
            <a:ext cx="17348200" cy="1752600"/>
          </a:xfrm>
          <a:custGeom>
            <a:avLst/>
            <a:gdLst/>
            <a:ahLst/>
            <a:cxnLst/>
            <a:rect l="l" t="t" r="r" b="b"/>
            <a:pathLst>
              <a:path w="17348200" h="1752600">
                <a:moveTo>
                  <a:pt x="0" y="1752600"/>
                </a:moveTo>
                <a:lnTo>
                  <a:pt x="17348200" y="1752600"/>
                </a:lnTo>
                <a:lnTo>
                  <a:pt x="17348200" y="0"/>
                </a:lnTo>
                <a:lnTo>
                  <a:pt x="0" y="0"/>
                </a:lnTo>
                <a:lnTo>
                  <a:pt x="0" y="1752600"/>
                </a:lnTo>
                <a:close/>
              </a:path>
            </a:pathLst>
          </a:custGeom>
          <a:solidFill>
            <a:srgbClr val="BCCCD3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4161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F433A-AD4C-4845-95B5-BA744319B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213" y="1341521"/>
            <a:ext cx="14963775" cy="106354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4E27DF-4FD8-F94C-89DE-71F8959A6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2213" y="2597150"/>
            <a:ext cx="7405687" cy="61880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0116CD-0931-1E4B-869D-86336063F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50300" y="2597150"/>
            <a:ext cx="7405688" cy="61880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19EF62-B1CA-194A-A8C0-B00D4929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518DB0-E160-1B4E-AF90-B06201F0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23CAAA-58EE-784D-BD91-D9FE383D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27848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B5370-FB7A-2649-8204-D17A3CBA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1328738"/>
            <a:ext cx="14962187" cy="103346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7D79AE-8C86-4242-98A4-37C728186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5388" y="2390775"/>
            <a:ext cx="7339012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54A44B-23A9-9F4D-A015-75D033BAD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5388" y="3562350"/>
            <a:ext cx="7339012" cy="5240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BAAB34-0793-2343-9F76-51539B000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2050" y="2390775"/>
            <a:ext cx="737552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E869DC-CA15-2741-B13E-B20B2E40A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2050" y="3562350"/>
            <a:ext cx="7375525" cy="5240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1E851D-27EF-3944-AB5F-B49CC316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F15C6B8-0DA7-CB4F-AEAF-E97DF9AA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743C21-0EA8-B543-9578-2F5D5491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64217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C0EDA-D105-2445-BA4B-A382EA4C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213" y="1341521"/>
            <a:ext cx="14963775" cy="106354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1856AE-E9BE-5F49-9917-DC5A0020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CE38AB0-49DC-8D41-9C2A-A658C2B37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88F65E-0A8A-BF4D-A9D1-13CDC1461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51962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8C8939B-8267-694F-856F-1F6A6D3D7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280AF8-360C-B94A-8025-AC3F1079B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109C4D-40BA-F643-857D-E6852A32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8589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1FC3F-E0E6-394F-B8FD-527E0D1D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1404937"/>
            <a:ext cx="5594350" cy="152082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AA864-BD69-0F4A-973D-D9EF8A43D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525" y="1404938"/>
            <a:ext cx="8782050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F5398E-8F5C-DE4E-AC69-E81031124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5388" y="2925763"/>
            <a:ext cx="5594350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F9B3AF-C10B-9A4A-B093-A06D0DB5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631405-7611-8647-AEF1-38DA7D29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C65330-9D9C-9440-9F64-6A6A6D19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7913AA73-30F5-1B4A-BCB9-4C8B20F21D11}"/>
              </a:ext>
            </a:extLst>
          </p:cNvPr>
          <p:cNvSpPr/>
          <p:nvPr userDrawn="1"/>
        </p:nvSpPr>
        <p:spPr>
          <a:xfrm>
            <a:off x="7226300" y="1219200"/>
            <a:ext cx="9118600" cy="784860"/>
          </a:xfrm>
          <a:custGeom>
            <a:avLst/>
            <a:gdLst/>
            <a:ahLst/>
            <a:cxnLst/>
            <a:rect l="l" t="t" r="r" b="b"/>
            <a:pathLst>
              <a:path w="12776200" h="784860">
                <a:moveTo>
                  <a:pt x="0" y="0"/>
                </a:moveTo>
                <a:lnTo>
                  <a:pt x="12776200" y="0"/>
                </a:lnTo>
                <a:lnTo>
                  <a:pt x="12776200" y="784301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E7F0E087-6FBC-5141-ACF1-55D5B5CBE648}"/>
              </a:ext>
            </a:extLst>
          </p:cNvPr>
          <p:cNvSpPr/>
          <p:nvPr userDrawn="1"/>
        </p:nvSpPr>
        <p:spPr>
          <a:xfrm>
            <a:off x="7226300" y="7658418"/>
            <a:ext cx="9118600" cy="921385"/>
          </a:xfrm>
          <a:custGeom>
            <a:avLst/>
            <a:gdLst/>
            <a:ahLst/>
            <a:cxnLst/>
            <a:rect l="l" t="t" r="r" b="b"/>
            <a:pathLst>
              <a:path w="12776200" h="921384">
                <a:moveTo>
                  <a:pt x="12776200" y="921334"/>
                </a:moveTo>
                <a:lnTo>
                  <a:pt x="0" y="921334"/>
                </a:lnTo>
                <a:lnTo>
                  <a:pt x="0" y="0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98300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96D88-6EC7-D146-9B3A-C8DB6B6C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388" y="1404937"/>
            <a:ext cx="5594350" cy="1520825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8105B2-4330-914B-B152-C3FE7E53B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5525" y="1404938"/>
            <a:ext cx="8782050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743D74-ECFC-1243-8BFC-8A027D687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5388" y="2925763"/>
            <a:ext cx="5594350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D86FA6-6FF1-E04E-8C1C-4B46BC86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FAB447-360C-494E-B83D-0FC668C8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99BE8B-054E-104F-B926-FFBD75E2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39F4EE54-F5B2-BF4F-BEBF-BD9B6D4EB927}"/>
              </a:ext>
            </a:extLst>
          </p:cNvPr>
          <p:cNvSpPr/>
          <p:nvPr userDrawn="1"/>
        </p:nvSpPr>
        <p:spPr>
          <a:xfrm>
            <a:off x="7226300" y="1219200"/>
            <a:ext cx="9118600" cy="784860"/>
          </a:xfrm>
          <a:custGeom>
            <a:avLst/>
            <a:gdLst/>
            <a:ahLst/>
            <a:cxnLst/>
            <a:rect l="l" t="t" r="r" b="b"/>
            <a:pathLst>
              <a:path w="12776200" h="784860">
                <a:moveTo>
                  <a:pt x="0" y="0"/>
                </a:moveTo>
                <a:lnTo>
                  <a:pt x="12776200" y="0"/>
                </a:lnTo>
                <a:lnTo>
                  <a:pt x="12776200" y="784301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A76AE678-6447-4D4A-87B3-238B51C3469C}"/>
              </a:ext>
            </a:extLst>
          </p:cNvPr>
          <p:cNvSpPr/>
          <p:nvPr userDrawn="1"/>
        </p:nvSpPr>
        <p:spPr>
          <a:xfrm>
            <a:off x="7226300" y="7658418"/>
            <a:ext cx="9118600" cy="921385"/>
          </a:xfrm>
          <a:custGeom>
            <a:avLst/>
            <a:gdLst/>
            <a:ahLst/>
            <a:cxnLst/>
            <a:rect l="l" t="t" r="r" b="b"/>
            <a:pathLst>
              <a:path w="12776200" h="921384">
                <a:moveTo>
                  <a:pt x="12776200" y="921334"/>
                </a:moveTo>
                <a:lnTo>
                  <a:pt x="0" y="921334"/>
                </a:lnTo>
                <a:lnTo>
                  <a:pt x="0" y="0"/>
                </a:lnTo>
              </a:path>
            </a:pathLst>
          </a:custGeom>
          <a:ln w="2540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05159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cabezado en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80EFF-90C6-FE48-A1EA-51EB13824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2300" y="3340195"/>
            <a:ext cx="14187488" cy="1063543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3F50FD-DC08-5140-A4D1-C801A9CA5A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92300" y="4595336"/>
            <a:ext cx="14187488" cy="1881663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 anchorCtr="1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bg2"/>
                </a:solidFill>
                <a:latin typeface="Antenna 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64BC35-D18F-C84F-84C6-A2E9AD29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CF7541-EFD1-494D-985E-6CB9C9CB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A7EF88C-1EC0-B94A-BE51-EC8901F73648}"/>
              </a:ext>
            </a:extLst>
          </p:cNvPr>
          <p:cNvSpPr/>
          <p:nvPr userDrawn="1"/>
        </p:nvSpPr>
        <p:spPr>
          <a:xfrm>
            <a:off x="3949700" y="3056219"/>
            <a:ext cx="9241234" cy="28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05009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ersonaje a la izquierda con encabe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B65C5-CC1E-6F4E-88AB-F4FD3BF3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0" y="1341519"/>
            <a:ext cx="7481888" cy="1063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07063-710F-B54B-8806-2C66D272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4100" y="2597150"/>
            <a:ext cx="7481888" cy="6188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84FDDE-4647-D748-AB06-B1EBAEB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C5763-B804-7540-ADB6-CEE7F6D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5E3F7E-EE8A-344F-86DF-3E1493EA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72602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ersonaje a la derecha con encabe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B65C5-CC1E-6F4E-88AB-F4FD3BF3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212" y="1411369"/>
            <a:ext cx="7481888" cy="1063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07063-710F-B54B-8806-2C66D272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212" y="2667000"/>
            <a:ext cx="7481888" cy="6188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84FDDE-4647-D748-AB06-B1EBAEB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C5763-B804-7540-ADB6-CEE7F6D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5E3F7E-EE8A-344F-86DF-3E1493EA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17052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je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07063-710F-B54B-8806-2C66D272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4100" y="1341520"/>
            <a:ext cx="7481888" cy="7443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84FDDE-4647-D748-AB06-B1EBAEB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C5763-B804-7540-ADB6-CEE7F6D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5E3F7E-EE8A-344F-86DF-3E1493EA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14085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je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07063-710F-B54B-8806-2C66D272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212" y="1219200"/>
            <a:ext cx="7481888" cy="7635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ntenna Regular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84FDDE-4647-D748-AB06-B1EBAEBDF9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AC5763-B804-7540-ADB6-CEE7F6D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419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5E3F7E-EE8A-344F-86DF-3E1493EA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52325" y="9040813"/>
            <a:ext cx="3903663" cy="519112"/>
          </a:xfrm>
          <a:prstGeom prst="rect">
            <a:avLst/>
          </a:prstGeom>
        </p:spPr>
        <p:txBody>
          <a:bodyPr/>
          <a:lstStyle/>
          <a:p>
            <a:fld id="{D8828308-B333-6242-BF8D-6933135FAE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8823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44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43.xml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2">
            <a:extLst>
              <a:ext uri="{FF2B5EF4-FFF2-40B4-BE49-F238E27FC236}">
                <a16:creationId xmlns:a16="http://schemas.microsoft.com/office/drawing/2014/main" id="{0E510BC7-BC81-F94B-BE87-B1D3FC19AD05}"/>
              </a:ext>
            </a:extLst>
          </p:cNvPr>
          <p:cNvSpPr/>
          <p:nvPr userDrawn="1"/>
        </p:nvSpPr>
        <p:spPr>
          <a:xfrm>
            <a:off x="10529752" y="50800"/>
            <a:ext cx="6818447" cy="97028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  <a:effectLst>
            <a:outerShdw blurRad="50800" dist="50800" dir="5400000" algn="ctr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7568EC-BD48-F346-A3B1-0544A4831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8500" y="2597150"/>
            <a:ext cx="14187488" cy="6188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0CC6ED-0650-A74D-892B-5988FCF39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12B8A3E-71F8-1E41-97CC-D4A159F8A18F}"/>
              </a:ext>
            </a:extLst>
          </p:cNvPr>
          <p:cNvGrpSpPr/>
          <p:nvPr userDrawn="1"/>
        </p:nvGrpSpPr>
        <p:grpSpPr>
          <a:xfrm>
            <a:off x="215900" y="155305"/>
            <a:ext cx="2156984" cy="1063895"/>
            <a:chOff x="628550" y="295046"/>
            <a:chExt cx="1800984" cy="888304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58B0C76C-70AF-094F-AA17-A9D896031101}"/>
                </a:ext>
              </a:extLst>
            </p:cNvPr>
            <p:cNvSpPr/>
            <p:nvPr userDrawn="1"/>
          </p:nvSpPr>
          <p:spPr>
            <a:xfrm>
              <a:off x="628550" y="845268"/>
              <a:ext cx="378460" cy="337820"/>
            </a:xfrm>
            <a:custGeom>
              <a:avLst/>
              <a:gdLst/>
              <a:ahLst/>
              <a:cxnLst/>
              <a:rect l="l" t="t" r="r" b="b"/>
              <a:pathLst>
                <a:path w="378459" h="337819">
                  <a:moveTo>
                    <a:pt x="97561" y="0"/>
                  </a:moveTo>
                  <a:lnTo>
                    <a:pt x="0" y="0"/>
                  </a:lnTo>
                  <a:lnTo>
                    <a:pt x="0" y="337781"/>
                  </a:lnTo>
                  <a:lnTo>
                    <a:pt x="67462" y="337781"/>
                  </a:lnTo>
                  <a:lnTo>
                    <a:pt x="67462" y="113512"/>
                  </a:lnTo>
                  <a:lnTo>
                    <a:pt x="142648" y="113512"/>
                  </a:lnTo>
                  <a:lnTo>
                    <a:pt x="97561" y="0"/>
                  </a:lnTo>
                  <a:close/>
                </a:path>
                <a:path w="378459" h="337819">
                  <a:moveTo>
                    <a:pt x="142648" y="113512"/>
                  </a:moveTo>
                  <a:lnTo>
                    <a:pt x="67462" y="113512"/>
                  </a:lnTo>
                  <a:lnTo>
                    <a:pt x="157734" y="337781"/>
                  </a:lnTo>
                  <a:lnTo>
                    <a:pt x="214249" y="337781"/>
                  </a:lnTo>
                  <a:lnTo>
                    <a:pt x="257323" y="230657"/>
                  </a:lnTo>
                  <a:lnTo>
                    <a:pt x="189179" y="230657"/>
                  </a:lnTo>
                  <a:lnTo>
                    <a:pt x="142648" y="113512"/>
                  </a:lnTo>
                  <a:close/>
                </a:path>
                <a:path w="378459" h="337819">
                  <a:moveTo>
                    <a:pt x="377913" y="112141"/>
                  </a:moveTo>
                  <a:lnTo>
                    <a:pt x="304977" y="112140"/>
                  </a:lnTo>
                  <a:lnTo>
                    <a:pt x="304977" y="337781"/>
                  </a:lnTo>
                  <a:lnTo>
                    <a:pt x="377913" y="337781"/>
                  </a:lnTo>
                  <a:lnTo>
                    <a:pt x="377913" y="112141"/>
                  </a:lnTo>
                  <a:close/>
                </a:path>
                <a:path w="378459" h="337819">
                  <a:moveTo>
                    <a:pt x="377913" y="0"/>
                  </a:moveTo>
                  <a:lnTo>
                    <a:pt x="280809" y="0"/>
                  </a:lnTo>
                  <a:lnTo>
                    <a:pt x="189179" y="230657"/>
                  </a:lnTo>
                  <a:lnTo>
                    <a:pt x="257323" y="230657"/>
                  </a:lnTo>
                  <a:lnTo>
                    <a:pt x="304977" y="112141"/>
                  </a:lnTo>
                  <a:lnTo>
                    <a:pt x="377913" y="112141"/>
                  </a:lnTo>
                  <a:lnTo>
                    <a:pt x="377913" y="0"/>
                  </a:lnTo>
                  <a:close/>
                </a:path>
              </a:pathLst>
            </a:custGeom>
            <a:solidFill>
              <a:srgbClr val="0113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47E5C33-D636-BE43-B2E5-F2DC2FCF2D9A}"/>
                </a:ext>
              </a:extLst>
            </p:cNvPr>
            <p:cNvSpPr/>
            <p:nvPr userDrawn="1"/>
          </p:nvSpPr>
          <p:spPr>
            <a:xfrm>
              <a:off x="1116552" y="845273"/>
              <a:ext cx="0" cy="337820"/>
            </a:xfrm>
            <a:custGeom>
              <a:avLst/>
              <a:gdLst/>
              <a:ahLst/>
              <a:cxnLst/>
              <a:rect l="l" t="t" r="r" b="b"/>
              <a:pathLst>
                <a:path h="337819">
                  <a:moveTo>
                    <a:pt x="0" y="0"/>
                  </a:moveTo>
                  <a:lnTo>
                    <a:pt x="0" y="337781"/>
                  </a:lnTo>
                </a:path>
              </a:pathLst>
            </a:custGeom>
            <a:ln w="74307">
              <a:solidFill>
                <a:srgbClr val="18CD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7AB125ED-2F6A-0941-8289-F4FDDE918865}"/>
                </a:ext>
              </a:extLst>
            </p:cNvPr>
            <p:cNvSpPr/>
            <p:nvPr userDrawn="1"/>
          </p:nvSpPr>
          <p:spPr>
            <a:xfrm>
              <a:off x="1198836" y="842990"/>
              <a:ext cx="347345" cy="340360"/>
            </a:xfrm>
            <a:custGeom>
              <a:avLst/>
              <a:gdLst/>
              <a:ahLst/>
              <a:cxnLst/>
              <a:rect l="l" t="t" r="r" b="b"/>
              <a:pathLst>
                <a:path w="347344" h="340359">
                  <a:moveTo>
                    <a:pt x="211061" y="0"/>
                  </a:moveTo>
                  <a:lnTo>
                    <a:pt x="135381" y="0"/>
                  </a:lnTo>
                  <a:lnTo>
                    <a:pt x="0" y="340067"/>
                  </a:lnTo>
                  <a:lnTo>
                    <a:pt x="72936" y="340067"/>
                  </a:lnTo>
                  <a:lnTo>
                    <a:pt x="94818" y="284454"/>
                  </a:lnTo>
                  <a:lnTo>
                    <a:pt x="325057" y="284454"/>
                  </a:lnTo>
                  <a:lnTo>
                    <a:pt x="300393" y="222910"/>
                  </a:lnTo>
                  <a:lnTo>
                    <a:pt x="118516" y="222910"/>
                  </a:lnTo>
                  <a:lnTo>
                    <a:pt x="171399" y="88430"/>
                  </a:lnTo>
                  <a:lnTo>
                    <a:pt x="246500" y="88430"/>
                  </a:lnTo>
                  <a:lnTo>
                    <a:pt x="211061" y="0"/>
                  </a:lnTo>
                  <a:close/>
                </a:path>
                <a:path w="347344" h="340359">
                  <a:moveTo>
                    <a:pt x="325057" y="284454"/>
                  </a:moveTo>
                  <a:lnTo>
                    <a:pt x="247980" y="284454"/>
                  </a:lnTo>
                  <a:lnTo>
                    <a:pt x="269862" y="340067"/>
                  </a:lnTo>
                  <a:lnTo>
                    <a:pt x="347344" y="340067"/>
                  </a:lnTo>
                  <a:lnTo>
                    <a:pt x="325057" y="284454"/>
                  </a:lnTo>
                  <a:close/>
                </a:path>
                <a:path w="347344" h="340359">
                  <a:moveTo>
                    <a:pt x="246500" y="88430"/>
                  </a:moveTo>
                  <a:lnTo>
                    <a:pt x="171399" y="88430"/>
                  </a:lnTo>
                  <a:lnTo>
                    <a:pt x="224281" y="222910"/>
                  </a:lnTo>
                  <a:lnTo>
                    <a:pt x="300393" y="222910"/>
                  </a:lnTo>
                  <a:lnTo>
                    <a:pt x="246500" y="88430"/>
                  </a:lnTo>
                  <a:close/>
                </a:path>
              </a:pathLst>
            </a:custGeom>
            <a:solidFill>
              <a:srgbClr val="18C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DA171B5C-6A0A-494A-90A7-0407410677A8}"/>
                </a:ext>
              </a:extLst>
            </p:cNvPr>
            <p:cNvSpPr/>
            <p:nvPr userDrawn="1"/>
          </p:nvSpPr>
          <p:spPr>
            <a:xfrm>
              <a:off x="1586303" y="845267"/>
              <a:ext cx="309880" cy="337820"/>
            </a:xfrm>
            <a:custGeom>
              <a:avLst/>
              <a:gdLst/>
              <a:ahLst/>
              <a:cxnLst/>
              <a:rect l="l" t="t" r="r" b="b"/>
              <a:pathLst>
                <a:path w="309880" h="337819">
                  <a:moveTo>
                    <a:pt x="121259" y="0"/>
                  </a:moveTo>
                  <a:lnTo>
                    <a:pt x="0" y="0"/>
                  </a:lnTo>
                  <a:lnTo>
                    <a:pt x="0" y="337781"/>
                  </a:lnTo>
                  <a:lnTo>
                    <a:pt x="119443" y="337781"/>
                  </a:lnTo>
                  <a:lnTo>
                    <a:pt x="171885" y="335327"/>
                  </a:lnTo>
                  <a:lnTo>
                    <a:pt x="215340" y="327299"/>
                  </a:lnTo>
                  <a:lnTo>
                    <a:pt x="250144" y="312701"/>
                  </a:lnTo>
                  <a:lnTo>
                    <a:pt x="276630" y="290535"/>
                  </a:lnTo>
                  <a:lnTo>
                    <a:pt x="287427" y="272605"/>
                  </a:lnTo>
                  <a:lnTo>
                    <a:pt x="74764" y="272605"/>
                  </a:lnTo>
                  <a:lnTo>
                    <a:pt x="74764" y="67017"/>
                  </a:lnTo>
                  <a:lnTo>
                    <a:pt x="289803" y="67017"/>
                  </a:lnTo>
                  <a:lnTo>
                    <a:pt x="277349" y="46016"/>
                  </a:lnTo>
                  <a:lnTo>
                    <a:pt x="251250" y="24185"/>
                  </a:lnTo>
                  <a:lnTo>
                    <a:pt x="216802" y="9994"/>
                  </a:lnTo>
                  <a:lnTo>
                    <a:pt x="173604" y="2309"/>
                  </a:lnTo>
                  <a:lnTo>
                    <a:pt x="121259" y="0"/>
                  </a:lnTo>
                  <a:close/>
                </a:path>
                <a:path w="309880" h="337819">
                  <a:moveTo>
                    <a:pt x="289803" y="67017"/>
                  </a:moveTo>
                  <a:lnTo>
                    <a:pt x="122173" y="67017"/>
                  </a:lnTo>
                  <a:lnTo>
                    <a:pt x="180468" y="72195"/>
                  </a:lnTo>
                  <a:lnTo>
                    <a:pt x="214487" y="89296"/>
                  </a:lnTo>
                  <a:lnTo>
                    <a:pt x="230383" y="120671"/>
                  </a:lnTo>
                  <a:lnTo>
                    <a:pt x="234314" y="168668"/>
                  </a:lnTo>
                  <a:lnTo>
                    <a:pt x="229955" y="217023"/>
                  </a:lnTo>
                  <a:lnTo>
                    <a:pt x="213458" y="249183"/>
                  </a:lnTo>
                  <a:lnTo>
                    <a:pt x="179697" y="267070"/>
                  </a:lnTo>
                  <a:lnTo>
                    <a:pt x="123545" y="272605"/>
                  </a:lnTo>
                  <a:lnTo>
                    <a:pt x="287427" y="272605"/>
                  </a:lnTo>
                  <a:lnTo>
                    <a:pt x="295135" y="259806"/>
                  </a:lnTo>
                  <a:lnTo>
                    <a:pt x="305992" y="219516"/>
                  </a:lnTo>
                  <a:lnTo>
                    <a:pt x="309537" y="168668"/>
                  </a:lnTo>
                  <a:lnTo>
                    <a:pt x="306093" y="117125"/>
                  </a:lnTo>
                  <a:lnTo>
                    <a:pt x="295497" y="76619"/>
                  </a:lnTo>
                  <a:lnTo>
                    <a:pt x="289803" y="67017"/>
                  </a:lnTo>
                  <a:close/>
                </a:path>
              </a:pathLst>
            </a:custGeom>
            <a:solidFill>
              <a:srgbClr val="0113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2A65206D-504C-FE42-ADD9-B899B46339D0}"/>
                </a:ext>
              </a:extLst>
            </p:cNvPr>
            <p:cNvSpPr/>
            <p:nvPr userDrawn="1"/>
          </p:nvSpPr>
          <p:spPr>
            <a:xfrm>
              <a:off x="1596364" y="295046"/>
              <a:ext cx="833170" cy="88800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4">
            <a:extLst>
              <a:ext uri="{FF2B5EF4-FFF2-40B4-BE49-F238E27FC236}">
                <a16:creationId xmlns:a16="http://schemas.microsoft.com/office/drawing/2014/main" id="{A11C84A7-5AC0-1840-A6C9-9BE6C856221A}"/>
              </a:ext>
            </a:extLst>
          </p:cNvPr>
          <p:cNvSpPr/>
          <p:nvPr userDrawn="1"/>
        </p:nvSpPr>
        <p:spPr>
          <a:xfrm>
            <a:off x="2947540" y="794487"/>
            <a:ext cx="13727560" cy="4571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44D61AD2-3F3B-8343-82F3-87B91108DD0D}"/>
              </a:ext>
            </a:extLst>
          </p:cNvPr>
          <p:cNvSpPr/>
          <p:nvPr userDrawn="1"/>
        </p:nvSpPr>
        <p:spPr>
          <a:xfrm>
            <a:off x="8940477" y="8915400"/>
            <a:ext cx="5918200" cy="0"/>
          </a:xfrm>
          <a:custGeom>
            <a:avLst/>
            <a:gdLst/>
            <a:ahLst/>
            <a:cxnLst/>
            <a:rect l="l" t="t" r="r" b="b"/>
            <a:pathLst>
              <a:path w="5918200">
                <a:moveTo>
                  <a:pt x="5918187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F793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6A2F1ABE-7AB6-4D44-A74C-157A20565CC2}"/>
              </a:ext>
            </a:extLst>
          </p:cNvPr>
          <p:cNvSpPr/>
          <p:nvPr userDrawn="1"/>
        </p:nvSpPr>
        <p:spPr>
          <a:xfrm>
            <a:off x="8940482" y="8915400"/>
            <a:ext cx="3251835" cy="0"/>
          </a:xfrm>
          <a:custGeom>
            <a:avLst/>
            <a:gdLst/>
            <a:ahLst/>
            <a:cxnLst/>
            <a:rect l="l" t="t" r="r" b="b"/>
            <a:pathLst>
              <a:path w="3251834">
                <a:moveTo>
                  <a:pt x="3251517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662C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3D8A6877-2879-1D4D-8F03-B85B85B69BF5}"/>
              </a:ext>
            </a:extLst>
          </p:cNvPr>
          <p:cNvSpPr/>
          <p:nvPr userDrawn="1"/>
        </p:nvSpPr>
        <p:spPr>
          <a:xfrm>
            <a:off x="8940482" y="8915400"/>
            <a:ext cx="2248535" cy="0"/>
          </a:xfrm>
          <a:custGeom>
            <a:avLst/>
            <a:gdLst/>
            <a:ahLst/>
            <a:cxnLst/>
            <a:rect l="l" t="t" r="r" b="b"/>
            <a:pathLst>
              <a:path w="2248534">
                <a:moveTo>
                  <a:pt x="0" y="0"/>
                </a:moveTo>
                <a:lnTo>
                  <a:pt x="2248217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Marcador de pie de página 18">
            <a:extLst>
              <a:ext uri="{FF2B5EF4-FFF2-40B4-BE49-F238E27FC236}">
                <a16:creationId xmlns:a16="http://schemas.microsoft.com/office/drawing/2014/main" id="{94662759-0D0C-1742-BD49-D946AC580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1" name="Marcador de título 20">
            <a:extLst>
              <a:ext uri="{FF2B5EF4-FFF2-40B4-BE49-F238E27FC236}">
                <a16:creationId xmlns:a16="http://schemas.microsoft.com/office/drawing/2014/main" id="{4312CFFD-37E8-8C44-A0C8-AB46F14DE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8500" y="1341519"/>
            <a:ext cx="14187488" cy="1063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42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734" r:id="rId10"/>
    <p:sldLayoutId id="214748373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baseline="0">
          <a:solidFill>
            <a:schemeClr val="tx1"/>
          </a:solidFill>
          <a:latin typeface="Antenna Bold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ntenna Regular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ntenna Regular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ntenna Regular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ntenna Regular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ntenna Regular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557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799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95" r:id="rId3"/>
    <p:sldLayoutId id="2147483696" r:id="rId4"/>
    <p:sldLayoutId id="2147483697" r:id="rId5"/>
    <p:sldLayoutId id="2147483689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82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2">
            <a:extLst>
              <a:ext uri="{FF2B5EF4-FFF2-40B4-BE49-F238E27FC236}">
                <a16:creationId xmlns:a16="http://schemas.microsoft.com/office/drawing/2014/main" id="{0E510BC7-BC81-F94B-BE87-B1D3FC19AD05}"/>
              </a:ext>
            </a:extLst>
          </p:cNvPr>
          <p:cNvSpPr/>
          <p:nvPr/>
        </p:nvSpPr>
        <p:spPr>
          <a:xfrm>
            <a:off x="10529752" y="50800"/>
            <a:ext cx="6818447" cy="97028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  <a:effectLst>
            <a:outerShdw blurRad="50800" dist="50800" dir="5400000" algn="ctr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7568EC-BD48-F346-A3B1-0544A4831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8500" y="2597150"/>
            <a:ext cx="14187488" cy="6188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0CC6ED-0650-A74D-892B-5988FCF39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2213" y="9040813"/>
            <a:ext cx="3903662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12B8A3E-71F8-1E41-97CC-D4A159F8A18F}"/>
              </a:ext>
            </a:extLst>
          </p:cNvPr>
          <p:cNvGrpSpPr/>
          <p:nvPr/>
        </p:nvGrpSpPr>
        <p:grpSpPr>
          <a:xfrm>
            <a:off x="215900" y="155305"/>
            <a:ext cx="2156984" cy="1063895"/>
            <a:chOff x="628550" y="295046"/>
            <a:chExt cx="1800984" cy="888304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58B0C76C-70AF-094F-AA17-A9D896031101}"/>
                </a:ext>
              </a:extLst>
            </p:cNvPr>
            <p:cNvSpPr/>
            <p:nvPr userDrawn="1"/>
          </p:nvSpPr>
          <p:spPr>
            <a:xfrm>
              <a:off x="628550" y="845268"/>
              <a:ext cx="378460" cy="337820"/>
            </a:xfrm>
            <a:custGeom>
              <a:avLst/>
              <a:gdLst/>
              <a:ahLst/>
              <a:cxnLst/>
              <a:rect l="l" t="t" r="r" b="b"/>
              <a:pathLst>
                <a:path w="378459" h="337819">
                  <a:moveTo>
                    <a:pt x="97561" y="0"/>
                  </a:moveTo>
                  <a:lnTo>
                    <a:pt x="0" y="0"/>
                  </a:lnTo>
                  <a:lnTo>
                    <a:pt x="0" y="337781"/>
                  </a:lnTo>
                  <a:lnTo>
                    <a:pt x="67462" y="337781"/>
                  </a:lnTo>
                  <a:lnTo>
                    <a:pt x="67462" y="113512"/>
                  </a:lnTo>
                  <a:lnTo>
                    <a:pt x="142648" y="113512"/>
                  </a:lnTo>
                  <a:lnTo>
                    <a:pt x="97561" y="0"/>
                  </a:lnTo>
                  <a:close/>
                </a:path>
                <a:path w="378459" h="337819">
                  <a:moveTo>
                    <a:pt x="142648" y="113512"/>
                  </a:moveTo>
                  <a:lnTo>
                    <a:pt x="67462" y="113512"/>
                  </a:lnTo>
                  <a:lnTo>
                    <a:pt x="157734" y="337781"/>
                  </a:lnTo>
                  <a:lnTo>
                    <a:pt x="214249" y="337781"/>
                  </a:lnTo>
                  <a:lnTo>
                    <a:pt x="257323" y="230657"/>
                  </a:lnTo>
                  <a:lnTo>
                    <a:pt x="189179" y="230657"/>
                  </a:lnTo>
                  <a:lnTo>
                    <a:pt x="142648" y="113512"/>
                  </a:lnTo>
                  <a:close/>
                </a:path>
                <a:path w="378459" h="337819">
                  <a:moveTo>
                    <a:pt x="377913" y="112141"/>
                  </a:moveTo>
                  <a:lnTo>
                    <a:pt x="304977" y="112140"/>
                  </a:lnTo>
                  <a:lnTo>
                    <a:pt x="304977" y="337781"/>
                  </a:lnTo>
                  <a:lnTo>
                    <a:pt x="377913" y="337781"/>
                  </a:lnTo>
                  <a:lnTo>
                    <a:pt x="377913" y="112141"/>
                  </a:lnTo>
                  <a:close/>
                </a:path>
                <a:path w="378459" h="337819">
                  <a:moveTo>
                    <a:pt x="377913" y="0"/>
                  </a:moveTo>
                  <a:lnTo>
                    <a:pt x="280809" y="0"/>
                  </a:lnTo>
                  <a:lnTo>
                    <a:pt x="189179" y="230657"/>
                  </a:lnTo>
                  <a:lnTo>
                    <a:pt x="257323" y="230657"/>
                  </a:lnTo>
                  <a:lnTo>
                    <a:pt x="304977" y="112141"/>
                  </a:lnTo>
                  <a:lnTo>
                    <a:pt x="377913" y="112141"/>
                  </a:lnTo>
                  <a:lnTo>
                    <a:pt x="377913" y="0"/>
                  </a:lnTo>
                  <a:close/>
                </a:path>
              </a:pathLst>
            </a:custGeom>
            <a:solidFill>
              <a:srgbClr val="0113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47E5C33-D636-BE43-B2E5-F2DC2FCF2D9A}"/>
                </a:ext>
              </a:extLst>
            </p:cNvPr>
            <p:cNvSpPr/>
            <p:nvPr userDrawn="1"/>
          </p:nvSpPr>
          <p:spPr>
            <a:xfrm>
              <a:off x="1116552" y="845273"/>
              <a:ext cx="0" cy="337820"/>
            </a:xfrm>
            <a:custGeom>
              <a:avLst/>
              <a:gdLst/>
              <a:ahLst/>
              <a:cxnLst/>
              <a:rect l="l" t="t" r="r" b="b"/>
              <a:pathLst>
                <a:path h="337819">
                  <a:moveTo>
                    <a:pt x="0" y="0"/>
                  </a:moveTo>
                  <a:lnTo>
                    <a:pt x="0" y="337781"/>
                  </a:lnTo>
                </a:path>
              </a:pathLst>
            </a:custGeom>
            <a:ln w="74307">
              <a:solidFill>
                <a:srgbClr val="18CD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7AB125ED-2F6A-0941-8289-F4FDDE918865}"/>
                </a:ext>
              </a:extLst>
            </p:cNvPr>
            <p:cNvSpPr/>
            <p:nvPr userDrawn="1"/>
          </p:nvSpPr>
          <p:spPr>
            <a:xfrm>
              <a:off x="1198836" y="842990"/>
              <a:ext cx="347345" cy="340360"/>
            </a:xfrm>
            <a:custGeom>
              <a:avLst/>
              <a:gdLst/>
              <a:ahLst/>
              <a:cxnLst/>
              <a:rect l="l" t="t" r="r" b="b"/>
              <a:pathLst>
                <a:path w="347344" h="340359">
                  <a:moveTo>
                    <a:pt x="211061" y="0"/>
                  </a:moveTo>
                  <a:lnTo>
                    <a:pt x="135381" y="0"/>
                  </a:lnTo>
                  <a:lnTo>
                    <a:pt x="0" y="340067"/>
                  </a:lnTo>
                  <a:lnTo>
                    <a:pt x="72936" y="340067"/>
                  </a:lnTo>
                  <a:lnTo>
                    <a:pt x="94818" y="284454"/>
                  </a:lnTo>
                  <a:lnTo>
                    <a:pt x="325057" y="284454"/>
                  </a:lnTo>
                  <a:lnTo>
                    <a:pt x="300393" y="222910"/>
                  </a:lnTo>
                  <a:lnTo>
                    <a:pt x="118516" y="222910"/>
                  </a:lnTo>
                  <a:lnTo>
                    <a:pt x="171399" y="88430"/>
                  </a:lnTo>
                  <a:lnTo>
                    <a:pt x="246500" y="88430"/>
                  </a:lnTo>
                  <a:lnTo>
                    <a:pt x="211061" y="0"/>
                  </a:lnTo>
                  <a:close/>
                </a:path>
                <a:path w="347344" h="340359">
                  <a:moveTo>
                    <a:pt x="325057" y="284454"/>
                  </a:moveTo>
                  <a:lnTo>
                    <a:pt x="247980" y="284454"/>
                  </a:lnTo>
                  <a:lnTo>
                    <a:pt x="269862" y="340067"/>
                  </a:lnTo>
                  <a:lnTo>
                    <a:pt x="347344" y="340067"/>
                  </a:lnTo>
                  <a:lnTo>
                    <a:pt x="325057" y="284454"/>
                  </a:lnTo>
                  <a:close/>
                </a:path>
                <a:path w="347344" h="340359">
                  <a:moveTo>
                    <a:pt x="246500" y="88430"/>
                  </a:moveTo>
                  <a:lnTo>
                    <a:pt x="171399" y="88430"/>
                  </a:lnTo>
                  <a:lnTo>
                    <a:pt x="224281" y="222910"/>
                  </a:lnTo>
                  <a:lnTo>
                    <a:pt x="300393" y="222910"/>
                  </a:lnTo>
                  <a:lnTo>
                    <a:pt x="246500" y="88430"/>
                  </a:lnTo>
                  <a:close/>
                </a:path>
              </a:pathLst>
            </a:custGeom>
            <a:solidFill>
              <a:srgbClr val="18C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DA171B5C-6A0A-494A-90A7-0407410677A8}"/>
                </a:ext>
              </a:extLst>
            </p:cNvPr>
            <p:cNvSpPr/>
            <p:nvPr userDrawn="1"/>
          </p:nvSpPr>
          <p:spPr>
            <a:xfrm>
              <a:off x="1586303" y="845267"/>
              <a:ext cx="309880" cy="337820"/>
            </a:xfrm>
            <a:custGeom>
              <a:avLst/>
              <a:gdLst/>
              <a:ahLst/>
              <a:cxnLst/>
              <a:rect l="l" t="t" r="r" b="b"/>
              <a:pathLst>
                <a:path w="309880" h="337819">
                  <a:moveTo>
                    <a:pt x="121259" y="0"/>
                  </a:moveTo>
                  <a:lnTo>
                    <a:pt x="0" y="0"/>
                  </a:lnTo>
                  <a:lnTo>
                    <a:pt x="0" y="337781"/>
                  </a:lnTo>
                  <a:lnTo>
                    <a:pt x="119443" y="337781"/>
                  </a:lnTo>
                  <a:lnTo>
                    <a:pt x="171885" y="335327"/>
                  </a:lnTo>
                  <a:lnTo>
                    <a:pt x="215340" y="327299"/>
                  </a:lnTo>
                  <a:lnTo>
                    <a:pt x="250144" y="312701"/>
                  </a:lnTo>
                  <a:lnTo>
                    <a:pt x="276630" y="290535"/>
                  </a:lnTo>
                  <a:lnTo>
                    <a:pt x="287427" y="272605"/>
                  </a:lnTo>
                  <a:lnTo>
                    <a:pt x="74764" y="272605"/>
                  </a:lnTo>
                  <a:lnTo>
                    <a:pt x="74764" y="67017"/>
                  </a:lnTo>
                  <a:lnTo>
                    <a:pt x="289803" y="67017"/>
                  </a:lnTo>
                  <a:lnTo>
                    <a:pt x="277349" y="46016"/>
                  </a:lnTo>
                  <a:lnTo>
                    <a:pt x="251250" y="24185"/>
                  </a:lnTo>
                  <a:lnTo>
                    <a:pt x="216802" y="9994"/>
                  </a:lnTo>
                  <a:lnTo>
                    <a:pt x="173604" y="2309"/>
                  </a:lnTo>
                  <a:lnTo>
                    <a:pt x="121259" y="0"/>
                  </a:lnTo>
                  <a:close/>
                </a:path>
                <a:path w="309880" h="337819">
                  <a:moveTo>
                    <a:pt x="289803" y="67017"/>
                  </a:moveTo>
                  <a:lnTo>
                    <a:pt x="122173" y="67017"/>
                  </a:lnTo>
                  <a:lnTo>
                    <a:pt x="180468" y="72195"/>
                  </a:lnTo>
                  <a:lnTo>
                    <a:pt x="214487" y="89296"/>
                  </a:lnTo>
                  <a:lnTo>
                    <a:pt x="230383" y="120671"/>
                  </a:lnTo>
                  <a:lnTo>
                    <a:pt x="234314" y="168668"/>
                  </a:lnTo>
                  <a:lnTo>
                    <a:pt x="229955" y="217023"/>
                  </a:lnTo>
                  <a:lnTo>
                    <a:pt x="213458" y="249183"/>
                  </a:lnTo>
                  <a:lnTo>
                    <a:pt x="179697" y="267070"/>
                  </a:lnTo>
                  <a:lnTo>
                    <a:pt x="123545" y="272605"/>
                  </a:lnTo>
                  <a:lnTo>
                    <a:pt x="287427" y="272605"/>
                  </a:lnTo>
                  <a:lnTo>
                    <a:pt x="295135" y="259806"/>
                  </a:lnTo>
                  <a:lnTo>
                    <a:pt x="305992" y="219516"/>
                  </a:lnTo>
                  <a:lnTo>
                    <a:pt x="309537" y="168668"/>
                  </a:lnTo>
                  <a:lnTo>
                    <a:pt x="306093" y="117125"/>
                  </a:lnTo>
                  <a:lnTo>
                    <a:pt x="295497" y="76619"/>
                  </a:lnTo>
                  <a:lnTo>
                    <a:pt x="289803" y="67017"/>
                  </a:lnTo>
                  <a:close/>
                </a:path>
              </a:pathLst>
            </a:custGeom>
            <a:solidFill>
              <a:srgbClr val="0113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2A65206D-504C-FE42-ADD9-B899B46339D0}"/>
                </a:ext>
              </a:extLst>
            </p:cNvPr>
            <p:cNvSpPr/>
            <p:nvPr userDrawn="1"/>
          </p:nvSpPr>
          <p:spPr>
            <a:xfrm>
              <a:off x="1596364" y="295046"/>
              <a:ext cx="833170" cy="88800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4">
            <a:extLst>
              <a:ext uri="{FF2B5EF4-FFF2-40B4-BE49-F238E27FC236}">
                <a16:creationId xmlns:a16="http://schemas.microsoft.com/office/drawing/2014/main" id="{A11C84A7-5AC0-1840-A6C9-9BE6C856221A}"/>
              </a:ext>
            </a:extLst>
          </p:cNvPr>
          <p:cNvSpPr/>
          <p:nvPr/>
        </p:nvSpPr>
        <p:spPr>
          <a:xfrm>
            <a:off x="2947540" y="794487"/>
            <a:ext cx="13727560" cy="457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44D61AD2-3F3B-8343-82F3-87B91108DD0D}"/>
              </a:ext>
            </a:extLst>
          </p:cNvPr>
          <p:cNvSpPr/>
          <p:nvPr/>
        </p:nvSpPr>
        <p:spPr>
          <a:xfrm>
            <a:off x="8940477" y="8915400"/>
            <a:ext cx="5918200" cy="0"/>
          </a:xfrm>
          <a:custGeom>
            <a:avLst/>
            <a:gdLst/>
            <a:ahLst/>
            <a:cxnLst/>
            <a:rect l="l" t="t" r="r" b="b"/>
            <a:pathLst>
              <a:path w="5918200">
                <a:moveTo>
                  <a:pt x="5918187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F793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6A2F1ABE-7AB6-4D44-A74C-157A20565CC2}"/>
              </a:ext>
            </a:extLst>
          </p:cNvPr>
          <p:cNvSpPr/>
          <p:nvPr/>
        </p:nvSpPr>
        <p:spPr>
          <a:xfrm>
            <a:off x="8940482" y="8915400"/>
            <a:ext cx="3251835" cy="0"/>
          </a:xfrm>
          <a:custGeom>
            <a:avLst/>
            <a:gdLst/>
            <a:ahLst/>
            <a:cxnLst/>
            <a:rect l="l" t="t" r="r" b="b"/>
            <a:pathLst>
              <a:path w="3251834">
                <a:moveTo>
                  <a:pt x="3251517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662C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3D8A6877-2879-1D4D-8F03-B85B85B69BF5}"/>
              </a:ext>
            </a:extLst>
          </p:cNvPr>
          <p:cNvSpPr/>
          <p:nvPr/>
        </p:nvSpPr>
        <p:spPr>
          <a:xfrm>
            <a:off x="8940482" y="8915400"/>
            <a:ext cx="2248535" cy="0"/>
          </a:xfrm>
          <a:custGeom>
            <a:avLst/>
            <a:gdLst/>
            <a:ahLst/>
            <a:cxnLst/>
            <a:rect l="l" t="t" r="r" b="b"/>
            <a:pathLst>
              <a:path w="2248534">
                <a:moveTo>
                  <a:pt x="0" y="0"/>
                </a:moveTo>
                <a:lnTo>
                  <a:pt x="2248217" y="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Marcador de pie de página 18">
            <a:extLst>
              <a:ext uri="{FF2B5EF4-FFF2-40B4-BE49-F238E27FC236}">
                <a16:creationId xmlns:a16="http://schemas.microsoft.com/office/drawing/2014/main" id="{94662759-0D0C-1742-BD49-D946AC580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6750" y="9040813"/>
            <a:ext cx="5854700" cy="519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1" name="Marcador de título 20">
            <a:extLst>
              <a:ext uri="{FF2B5EF4-FFF2-40B4-BE49-F238E27FC236}">
                <a16:creationId xmlns:a16="http://schemas.microsoft.com/office/drawing/2014/main" id="{4312CFFD-37E8-8C44-A0C8-AB46F14DE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8500" y="1341519"/>
            <a:ext cx="14187488" cy="1063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3574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baseline="0">
          <a:solidFill>
            <a:schemeClr val="tx1"/>
          </a:solidFill>
          <a:latin typeface="Antenna Bold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ntenna Regular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ntenna Regular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ntenna Regular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ntenna Regular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ntenna Regular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304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3F5D6-3B5E-4910-A8CB-A741EE176C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EAF207-684C-45E5-8C46-3B3152191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5C4D0D-4D53-4D1C-A5E1-8890AB8E3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" y="0"/>
            <a:ext cx="17339733" cy="97536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6ED24C3-4A18-4315-80EB-84A0C516C055}"/>
              </a:ext>
            </a:extLst>
          </p:cNvPr>
          <p:cNvSpPr txBox="1"/>
          <p:nvPr/>
        </p:nvSpPr>
        <p:spPr>
          <a:xfrm>
            <a:off x="1490597" y="6885031"/>
            <a:ext cx="134404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>
                <a:solidFill>
                  <a:schemeClr val="bg2">
                    <a:lumMod val="75000"/>
                  </a:schemeClr>
                </a:solidFill>
                <a:latin typeface="Antenna Regular" panose="02000503000000020004"/>
              </a:rPr>
              <a:t>La Universidad de los Andes como institución que almacena, y recolecta datos personales, requiere obtener su autorización para que de manera libre, previa, expresa, voluntaria y debidamente informada, permita a todas las dependencias académicas y/o administrativas, recolectar, recaudar, almacenar, usar, circular, suprimir, procesar, compilar, intercambiar, dar tratamiento, actualizar y disponer de los datos que han sido suministrados y que se han incorporado en distintas bases o bancos de datos, o en repositorios electrónicos de todo tipo con que cuenta la Universidad. Esta información es, y será utilizada en el desarrollo de las funciones propias de la Universidad en su condición de institución de educación superior, de forma directa o a través de terceros, a no ser que usted le manifieste lo contrario de manera directa, expresa, inequívoca y por escrito a la cuenta de correo electrónico dispuesta para tal efecto: habeasdata@uniandes.edu.co – Conozca más aquí: www.uniandes.edu.co/datospersonales</a:t>
            </a:r>
          </a:p>
        </p:txBody>
      </p:sp>
    </p:spTree>
    <p:extLst>
      <p:ext uri="{BB962C8B-B14F-4D97-AF65-F5344CB8AC3E}">
        <p14:creationId xmlns:p14="http://schemas.microsoft.com/office/powerpoint/2010/main" val="215760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72ABB-3746-5641-BFBA-EB7D7F19E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8236" y="4300736"/>
            <a:ext cx="7226238" cy="1889202"/>
          </a:xfrm>
        </p:spPr>
        <p:txBody>
          <a:bodyPr>
            <a:normAutofit/>
          </a:bodyPr>
          <a:lstStyle/>
          <a:p>
            <a:r>
              <a:rPr lang="es-ES" sz="4000" dirty="0"/>
              <a:t>Machine </a:t>
            </a:r>
            <a:r>
              <a:rPr lang="es-ES" sz="4000" dirty="0" err="1"/>
              <a:t>Learning</a:t>
            </a:r>
            <a:r>
              <a:rPr lang="es-ES" sz="4000" dirty="0"/>
              <a:t> y Procesamiento de Lenguaje Natural</a:t>
            </a:r>
            <a:endParaRPr lang="es-CO" sz="4000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A33339B-A757-4B29-9360-5D1B311BD207}"/>
              </a:ext>
            </a:extLst>
          </p:cNvPr>
          <p:cNvSpPr txBox="1">
            <a:spLocks/>
          </p:cNvSpPr>
          <p:nvPr/>
        </p:nvSpPr>
        <p:spPr>
          <a:xfrm>
            <a:off x="9899600" y="6599598"/>
            <a:ext cx="5645200" cy="9758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n-US" sz="2800" dirty="0" err="1">
                <a:latin typeface="Antenna Bold" panose="02000503000000020004" pitchFamily="50" charset="0"/>
              </a:rPr>
              <a:t>Semana</a:t>
            </a:r>
            <a:r>
              <a:rPr lang="en-US" sz="2800" dirty="0">
                <a:latin typeface="Antenna Bold" panose="02000503000000020004" pitchFamily="50" charset="0"/>
              </a:rPr>
              <a:t> 1</a:t>
            </a:r>
            <a:endParaRPr lang="en-US" sz="2800" b="0" dirty="0">
              <a:latin typeface="Antenna Light" panose="020005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54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32"/>
    </mc:Choice>
    <mc:Fallback xmlns="">
      <p:transition spd="slow" advTm="121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D242-677E-B3B2-9C6B-5E9A30581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FE2F1BC-A74B-2FBB-042A-30579F0AE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3</a:t>
            </a:fld>
            <a:endParaRPr lang="es-CO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254EB04-E03E-FC10-9559-34101CAA5278}"/>
              </a:ext>
            </a:extLst>
          </p:cNvPr>
          <p:cNvSpPr txBox="1">
            <a:spLocks/>
          </p:cNvSpPr>
          <p:nvPr/>
        </p:nvSpPr>
        <p:spPr>
          <a:xfrm>
            <a:off x="2924334" y="740009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División Train y Test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D1915A7-4D5E-2CB7-A670-8254C5B7CBD8}"/>
              </a:ext>
            </a:extLst>
          </p:cNvPr>
          <p:cNvSpPr txBox="1">
            <a:spLocks/>
          </p:cNvSpPr>
          <p:nvPr/>
        </p:nvSpPr>
        <p:spPr>
          <a:xfrm>
            <a:off x="1000089" y="1913493"/>
            <a:ext cx="15685183" cy="134479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pPr algn="just"/>
            <a:r>
              <a:rPr lang="es-ES" sz="2800" b="0" dirty="0">
                <a:latin typeface="Antenna Light" panose="02000503000000020004" pitchFamily="50" charset="0"/>
                <a:ea typeface="+mn-ea"/>
                <a:cs typeface="+mn-cs"/>
              </a:rPr>
              <a:t>Se debe separar sus datos en divisiones de entrenamiento y prueba para evitar que un modelo sobreajuste y para poder evaluar con precisión su modelo.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61D6103-5BCC-E70B-9C43-F1D3376EBA68}"/>
              </a:ext>
            </a:extLst>
          </p:cNvPr>
          <p:cNvSpPr txBox="1">
            <a:spLocks/>
          </p:cNvSpPr>
          <p:nvPr/>
        </p:nvSpPr>
        <p:spPr>
          <a:xfrm>
            <a:off x="1000089" y="7383358"/>
            <a:ext cx="15685183" cy="134479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pPr algn="just"/>
            <a:r>
              <a:rPr lang="es-ES" sz="2800" dirty="0">
                <a:latin typeface="Antenna Light" panose="02000503000000020004" pitchFamily="50" charset="0"/>
                <a:ea typeface="+mn-ea"/>
                <a:cs typeface="+mn-cs"/>
              </a:rPr>
              <a:t>Validación cruzada: </a:t>
            </a:r>
            <a:r>
              <a:rPr lang="es-ES" sz="2800" b="0" dirty="0">
                <a:latin typeface="Antenna Light" panose="02000503000000020004" pitchFamily="50" charset="0"/>
                <a:ea typeface="+mn-ea"/>
                <a:cs typeface="+mn-cs"/>
              </a:rPr>
              <a:t>técnica para evaluar modelos mediante el entrenamiento en subconjuntos de los datos de entrenamiento y evaluarlos con el subconjunto complementario de los datos.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87FF0D7-D911-CCC1-9513-7E443A45D79C}"/>
              </a:ext>
            </a:extLst>
          </p:cNvPr>
          <p:cNvSpPr/>
          <p:nvPr/>
        </p:nvSpPr>
        <p:spPr>
          <a:xfrm>
            <a:off x="4679868" y="4710351"/>
            <a:ext cx="1984443" cy="1083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dirty="0">
                <a:solidFill>
                  <a:schemeClr val="tx1"/>
                </a:solidFill>
                <a:latin typeface="Antenna Light" panose="02000503000000020004"/>
              </a:rPr>
              <a:t>División </a:t>
            </a:r>
            <a:r>
              <a:rPr lang="es-CO" sz="3200" dirty="0" err="1">
                <a:solidFill>
                  <a:schemeClr val="tx1"/>
                </a:solidFill>
                <a:latin typeface="Antenna Light" panose="02000503000000020004"/>
              </a:rPr>
              <a:t>train</a:t>
            </a:r>
            <a:r>
              <a:rPr lang="es-CO" sz="3200" dirty="0">
                <a:solidFill>
                  <a:schemeClr val="tx1"/>
                </a:solidFill>
                <a:latin typeface="Antenna Light" panose="02000503000000020004"/>
              </a:rPr>
              <a:t> y test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B6F4A59-399E-6BAE-6AA9-2D24A9AD2C79}"/>
              </a:ext>
            </a:extLst>
          </p:cNvPr>
          <p:cNvSpPr/>
          <p:nvPr/>
        </p:nvSpPr>
        <p:spPr>
          <a:xfrm>
            <a:off x="7421395" y="4710350"/>
            <a:ext cx="2183694" cy="1083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dirty="0">
                <a:solidFill>
                  <a:schemeClr val="tx1"/>
                </a:solidFill>
                <a:latin typeface="Antenna Light" panose="02000503000000020004"/>
              </a:rPr>
              <a:t>Validación cruzada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2453BE-06C1-D9DF-E1AF-146CB1040E58}"/>
              </a:ext>
            </a:extLst>
          </p:cNvPr>
          <p:cNvSpPr txBox="1"/>
          <p:nvPr/>
        </p:nvSpPr>
        <p:spPr>
          <a:xfrm rot="16200000">
            <a:off x="2426452" y="5063344"/>
            <a:ext cx="3835362" cy="58477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O" sz="3200" dirty="0"/>
              <a:t>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FC0510-B3C8-7BD7-FB58-631346307409}"/>
              </a:ext>
            </a:extLst>
          </p:cNvPr>
          <p:cNvSpPr txBox="1"/>
          <p:nvPr/>
        </p:nvSpPr>
        <p:spPr>
          <a:xfrm rot="16200000">
            <a:off x="5570518" y="4613973"/>
            <a:ext cx="2875067" cy="52322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O" sz="2800" dirty="0"/>
              <a:t>Train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88C3E2-E86D-11C7-780F-BBD3EC458C61}"/>
              </a:ext>
            </a:extLst>
          </p:cNvPr>
          <p:cNvSpPr txBox="1"/>
          <p:nvPr/>
        </p:nvSpPr>
        <p:spPr>
          <a:xfrm rot="16200000">
            <a:off x="6527569" y="6531655"/>
            <a:ext cx="960295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O" sz="2800" dirty="0"/>
              <a:t>Test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D44F89-CA97-385E-AD01-7E48BE8C959A}"/>
              </a:ext>
            </a:extLst>
          </p:cNvPr>
          <p:cNvSpPr txBox="1"/>
          <p:nvPr/>
        </p:nvSpPr>
        <p:spPr>
          <a:xfrm rot="16200000">
            <a:off x="8750187" y="4579065"/>
            <a:ext cx="2875067" cy="52322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2A7475-8CFB-82E0-E402-B6F9007CA1E6}"/>
              </a:ext>
            </a:extLst>
          </p:cNvPr>
          <p:cNvSpPr txBox="1"/>
          <p:nvPr/>
        </p:nvSpPr>
        <p:spPr>
          <a:xfrm rot="16200000">
            <a:off x="9707238" y="6496747"/>
            <a:ext cx="960295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0B4B49-1373-1670-DC1E-91088F4D4C7C}"/>
              </a:ext>
            </a:extLst>
          </p:cNvPr>
          <p:cNvSpPr txBox="1"/>
          <p:nvPr/>
        </p:nvSpPr>
        <p:spPr>
          <a:xfrm rot="16200000">
            <a:off x="9517340" y="5059213"/>
            <a:ext cx="3835363" cy="52322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A9962C-E35A-6DF8-BF01-1EA8073E4FE9}"/>
              </a:ext>
            </a:extLst>
          </p:cNvPr>
          <p:cNvSpPr txBox="1"/>
          <p:nvPr/>
        </p:nvSpPr>
        <p:spPr>
          <a:xfrm rot="16200000">
            <a:off x="10954875" y="5539360"/>
            <a:ext cx="960295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B9BEC7-B0E2-33F7-6DAC-0FCCD29F0F06}"/>
              </a:ext>
            </a:extLst>
          </p:cNvPr>
          <p:cNvSpPr txBox="1"/>
          <p:nvPr/>
        </p:nvSpPr>
        <p:spPr>
          <a:xfrm rot="16200000">
            <a:off x="10737210" y="5046522"/>
            <a:ext cx="3829173" cy="52322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F4D15E-B60E-A26A-9A63-86949C116112}"/>
              </a:ext>
            </a:extLst>
          </p:cNvPr>
          <p:cNvSpPr txBox="1"/>
          <p:nvPr/>
        </p:nvSpPr>
        <p:spPr>
          <a:xfrm rot="16200000">
            <a:off x="12171648" y="4586672"/>
            <a:ext cx="960295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4CB4F6-5537-9796-A7CF-6B4AE9B79449}"/>
              </a:ext>
            </a:extLst>
          </p:cNvPr>
          <p:cNvSpPr txBox="1"/>
          <p:nvPr/>
        </p:nvSpPr>
        <p:spPr>
          <a:xfrm rot="16200000">
            <a:off x="11984176" y="5040332"/>
            <a:ext cx="3829174" cy="52322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63C07D-F270-BE2F-1CF2-33FD43C1B07E}"/>
              </a:ext>
            </a:extLst>
          </p:cNvPr>
          <p:cNvSpPr txBox="1"/>
          <p:nvPr/>
        </p:nvSpPr>
        <p:spPr>
          <a:xfrm rot="16200000">
            <a:off x="13418615" y="3596868"/>
            <a:ext cx="960295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161D1-B130-8510-2952-2DCE61A7C775}"/>
              </a:ext>
            </a:extLst>
          </p:cNvPr>
          <p:cNvSpPr txBox="1"/>
          <p:nvPr/>
        </p:nvSpPr>
        <p:spPr>
          <a:xfrm>
            <a:off x="6329364" y="4284828"/>
            <a:ext cx="5772150" cy="14465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O" sz="8800" dirty="0"/>
              <a:t>¡SIEMPRE!</a:t>
            </a:r>
          </a:p>
        </p:txBody>
      </p:sp>
    </p:spTree>
    <p:extLst>
      <p:ext uri="{BB962C8B-B14F-4D97-AF65-F5344CB8AC3E}">
        <p14:creationId xmlns:p14="http://schemas.microsoft.com/office/powerpoint/2010/main" val="242033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82E5E-797E-7C4A-AC70-48E46C055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1FA097C-510E-FAB6-CB22-E38AADD08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4</a:t>
            </a:fld>
            <a:endParaRPr lang="es-CO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D71DF36-CBFC-7F2A-B4E0-B58A427CC8DF}"/>
              </a:ext>
            </a:extLst>
          </p:cNvPr>
          <p:cNvSpPr txBox="1">
            <a:spLocks/>
          </p:cNvSpPr>
          <p:nvPr/>
        </p:nvSpPr>
        <p:spPr>
          <a:xfrm>
            <a:off x="2924334" y="740009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División Train, Test y Val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E4C67DA-AF46-3BAE-2073-214623A0D174}"/>
              </a:ext>
            </a:extLst>
          </p:cNvPr>
          <p:cNvSpPr txBox="1">
            <a:spLocks/>
          </p:cNvSpPr>
          <p:nvPr/>
        </p:nvSpPr>
        <p:spPr>
          <a:xfrm>
            <a:off x="1000089" y="1625395"/>
            <a:ext cx="15685183" cy="134479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pPr algn="just"/>
            <a:r>
              <a:rPr lang="es-ES" sz="2800" b="0" dirty="0">
                <a:latin typeface="Antenna Light" panose="02000503000000020004" pitchFamily="50" charset="0"/>
                <a:ea typeface="+mn-ea"/>
                <a:cs typeface="+mn-cs"/>
              </a:rPr>
              <a:t>Cuando se hace </a:t>
            </a:r>
            <a:r>
              <a:rPr lang="es-ES" sz="2800" b="0" dirty="0" err="1">
                <a:latin typeface="Antenna Light" panose="02000503000000020004" pitchFamily="50" charset="0"/>
                <a:ea typeface="+mn-ea"/>
                <a:cs typeface="+mn-cs"/>
              </a:rPr>
              <a:t>hyper-parameter</a:t>
            </a:r>
            <a:r>
              <a:rPr lang="es-ES" sz="2800" b="0" dirty="0">
                <a:latin typeface="Antenna Light" panose="02000503000000020004" pitchFamily="50" charset="0"/>
                <a:ea typeface="+mn-ea"/>
                <a:cs typeface="+mn-cs"/>
              </a:rPr>
              <a:t> </a:t>
            </a:r>
            <a:r>
              <a:rPr lang="es-ES" sz="2800" b="0" dirty="0" err="1">
                <a:latin typeface="Antenna Light" panose="02000503000000020004" pitchFamily="50" charset="0"/>
                <a:ea typeface="+mn-ea"/>
                <a:cs typeface="+mn-cs"/>
              </a:rPr>
              <a:t>tuning</a:t>
            </a:r>
            <a:r>
              <a:rPr lang="es-ES" sz="2800" b="0" dirty="0">
                <a:latin typeface="Antenna Light" panose="02000503000000020004" pitchFamily="50" charset="0"/>
                <a:ea typeface="+mn-ea"/>
                <a:cs typeface="+mn-cs"/>
              </a:rPr>
              <a:t> o se busca escoger entre distintos modelos, se deben separar sus datos en divisiones de entrenamiento, prueba y validación para evitar que un modelo sobreajuste y para poder evaluar con precisión su modelo.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C9EAB75-3B9B-F147-CA13-D6CBEB09C67F}"/>
              </a:ext>
            </a:extLst>
          </p:cNvPr>
          <p:cNvSpPr/>
          <p:nvPr/>
        </p:nvSpPr>
        <p:spPr>
          <a:xfrm>
            <a:off x="2174668" y="4334571"/>
            <a:ext cx="1984443" cy="1083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dirty="0">
                <a:solidFill>
                  <a:schemeClr val="tx1"/>
                </a:solidFill>
                <a:latin typeface="Antenna Light" panose="02000503000000020004"/>
              </a:rPr>
              <a:t>División </a:t>
            </a:r>
            <a:r>
              <a:rPr lang="es-CO" sz="3200" dirty="0" err="1">
                <a:solidFill>
                  <a:schemeClr val="tx1"/>
                </a:solidFill>
                <a:latin typeface="Antenna Light" panose="02000503000000020004"/>
              </a:rPr>
              <a:t>train</a:t>
            </a:r>
            <a:r>
              <a:rPr lang="es-CO" sz="3200" dirty="0">
                <a:solidFill>
                  <a:schemeClr val="tx1"/>
                </a:solidFill>
                <a:latin typeface="Antenna Light" panose="02000503000000020004"/>
              </a:rPr>
              <a:t>, test y val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39397-C129-83B6-CFF2-8092CB30C536}"/>
              </a:ext>
            </a:extLst>
          </p:cNvPr>
          <p:cNvSpPr txBox="1"/>
          <p:nvPr/>
        </p:nvSpPr>
        <p:spPr>
          <a:xfrm rot="16200000">
            <a:off x="-78748" y="4687564"/>
            <a:ext cx="3835362" cy="584775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O" sz="3200" dirty="0"/>
              <a:t>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188B9-F30C-F610-2328-06703377F6AD}"/>
              </a:ext>
            </a:extLst>
          </p:cNvPr>
          <p:cNvSpPr txBox="1"/>
          <p:nvPr/>
        </p:nvSpPr>
        <p:spPr>
          <a:xfrm rot="16200000">
            <a:off x="3561466" y="3742046"/>
            <a:ext cx="1882772" cy="52322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O" sz="2800" dirty="0"/>
              <a:t>Train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146EA8-56AB-F69F-0EEB-A9A2682C340B}"/>
              </a:ext>
            </a:extLst>
          </p:cNvPr>
          <p:cNvSpPr txBox="1"/>
          <p:nvPr/>
        </p:nvSpPr>
        <p:spPr>
          <a:xfrm rot="16200000">
            <a:off x="4022369" y="6155875"/>
            <a:ext cx="960295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O" sz="2800"/>
              <a:t>Val</a:t>
            </a:r>
            <a:endParaRPr lang="en-CO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31F8E-D856-5614-2597-46864F820806}"/>
              </a:ext>
            </a:extLst>
          </p:cNvPr>
          <p:cNvSpPr txBox="1"/>
          <p:nvPr/>
        </p:nvSpPr>
        <p:spPr>
          <a:xfrm rot="16200000">
            <a:off x="8750187" y="4203285"/>
            <a:ext cx="2875067" cy="52322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F8C474-BD15-4165-4688-6C1907028DAB}"/>
              </a:ext>
            </a:extLst>
          </p:cNvPr>
          <p:cNvSpPr txBox="1"/>
          <p:nvPr/>
        </p:nvSpPr>
        <p:spPr>
          <a:xfrm rot="16200000">
            <a:off x="9707572" y="5171187"/>
            <a:ext cx="960295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0713F0-3EB9-F236-CEFA-9F1D8CA1DCCA}"/>
              </a:ext>
            </a:extLst>
          </p:cNvPr>
          <p:cNvSpPr txBox="1"/>
          <p:nvPr/>
        </p:nvSpPr>
        <p:spPr>
          <a:xfrm rot="16200000">
            <a:off x="9997488" y="4203285"/>
            <a:ext cx="2875067" cy="52322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98430F-40F2-2241-2CFC-76F4ED20C3B1}"/>
              </a:ext>
            </a:extLst>
          </p:cNvPr>
          <p:cNvSpPr txBox="1"/>
          <p:nvPr/>
        </p:nvSpPr>
        <p:spPr>
          <a:xfrm rot="16200000">
            <a:off x="10954875" y="4222192"/>
            <a:ext cx="960295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73E116-4750-5D1C-F285-D12A8CB61B4F}"/>
              </a:ext>
            </a:extLst>
          </p:cNvPr>
          <p:cNvSpPr txBox="1"/>
          <p:nvPr/>
        </p:nvSpPr>
        <p:spPr>
          <a:xfrm rot="16200000">
            <a:off x="11214262" y="4193690"/>
            <a:ext cx="2875069" cy="52322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38E440-5ECA-924F-5DEC-41558F2E58B9}"/>
              </a:ext>
            </a:extLst>
          </p:cNvPr>
          <p:cNvSpPr txBox="1"/>
          <p:nvPr/>
        </p:nvSpPr>
        <p:spPr>
          <a:xfrm rot="16200000">
            <a:off x="12171649" y="3221088"/>
            <a:ext cx="960295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CO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D2BF7-4747-7CEF-A3EE-BA8D92E1999E}"/>
              </a:ext>
            </a:extLst>
          </p:cNvPr>
          <p:cNvSpPr txBox="1"/>
          <p:nvPr/>
        </p:nvSpPr>
        <p:spPr>
          <a:xfrm rot="16200000">
            <a:off x="4013739" y="5179579"/>
            <a:ext cx="960295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O" sz="2800" dirty="0"/>
              <a:t>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FCDC3D-48F1-4949-5288-A4125ACBE25F}"/>
              </a:ext>
            </a:extLst>
          </p:cNvPr>
          <p:cNvSpPr txBox="1"/>
          <p:nvPr/>
        </p:nvSpPr>
        <p:spPr>
          <a:xfrm rot="16200000">
            <a:off x="9698608" y="6120967"/>
            <a:ext cx="960295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O" sz="2800" dirty="0"/>
              <a:t>Val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253AB4-29E3-880C-0D76-DD90E3A65A73}"/>
              </a:ext>
            </a:extLst>
          </p:cNvPr>
          <p:cNvSpPr txBox="1"/>
          <p:nvPr/>
        </p:nvSpPr>
        <p:spPr>
          <a:xfrm rot="16200000">
            <a:off x="10954874" y="6120967"/>
            <a:ext cx="960295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O" sz="2800" dirty="0"/>
              <a:t>Val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77C6D6-1384-0A2A-1DA2-02CD0BC9C600}"/>
              </a:ext>
            </a:extLst>
          </p:cNvPr>
          <p:cNvSpPr txBox="1"/>
          <p:nvPr/>
        </p:nvSpPr>
        <p:spPr>
          <a:xfrm rot="16200000">
            <a:off x="12171650" y="6111373"/>
            <a:ext cx="960295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O" sz="2800" dirty="0"/>
              <a:t>Val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CDA119-C41A-4BAE-7DDE-0BA224AA67B0}"/>
              </a:ext>
            </a:extLst>
          </p:cNvPr>
          <p:cNvSpPr txBox="1"/>
          <p:nvPr/>
        </p:nvSpPr>
        <p:spPr>
          <a:xfrm>
            <a:off x="1000089" y="7112542"/>
            <a:ext cx="66262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s-ES" sz="1800" b="0" dirty="0">
                <a:latin typeface="Antenna Light" panose="02000503000000020004" pitchFamily="50" charset="0"/>
                <a:ea typeface="+mn-ea"/>
                <a:cs typeface="+mn-cs"/>
              </a:rPr>
              <a:t>Para cada modelo/</a:t>
            </a:r>
            <a:r>
              <a:rPr lang="es-ES" sz="1800" b="0" dirty="0" err="1">
                <a:latin typeface="Antenna Light" panose="02000503000000020004" pitchFamily="50" charset="0"/>
                <a:ea typeface="+mn-ea"/>
                <a:cs typeface="+mn-cs"/>
              </a:rPr>
              <a:t>hiperparámetros</a:t>
            </a:r>
            <a:r>
              <a:rPr lang="es-ES" sz="1800" b="0" dirty="0">
                <a:latin typeface="Antenna Light" panose="02000503000000020004" pitchFamily="50" charset="0"/>
                <a:ea typeface="+mn-ea"/>
                <a:cs typeface="+mn-cs"/>
              </a:rPr>
              <a:t>: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s-ES" b="0" dirty="0">
                <a:latin typeface="Antenna Light" panose="02000503000000020004" pitchFamily="50" charset="0"/>
                <a:ea typeface="+mn-ea"/>
                <a:cs typeface="+mn-cs"/>
              </a:rPr>
              <a:t>Se entrena con el conjunto Train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s-ES" b="0" dirty="0">
                <a:latin typeface="Antenna Light" panose="02000503000000020004" pitchFamily="50" charset="0"/>
                <a:ea typeface="+mn-ea"/>
                <a:cs typeface="+mn-cs"/>
              </a:rPr>
              <a:t>Se mira el desempeño en Test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1800" b="0" dirty="0">
                <a:latin typeface="Antenna Light" panose="02000503000000020004" pitchFamily="50" charset="0"/>
                <a:ea typeface="+mn-ea"/>
                <a:cs typeface="+mn-cs"/>
              </a:rPr>
              <a:t>Se escoge el modelo/</a:t>
            </a:r>
            <a:r>
              <a:rPr lang="es-ES" sz="1800" b="0" dirty="0" err="1">
                <a:latin typeface="Antenna Light" panose="02000503000000020004" pitchFamily="50" charset="0"/>
                <a:ea typeface="+mn-ea"/>
                <a:cs typeface="+mn-cs"/>
              </a:rPr>
              <a:t>hiperparámetros</a:t>
            </a:r>
            <a:r>
              <a:rPr lang="es-ES" sz="1800" b="0" dirty="0">
                <a:latin typeface="Antenna Light" panose="02000503000000020004" pitchFamily="50" charset="0"/>
                <a:ea typeface="+mn-ea"/>
                <a:cs typeface="+mn-cs"/>
              </a:rPr>
              <a:t> con mejor desempeño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1800" b="0" dirty="0">
                <a:latin typeface="Antenna Light" panose="02000503000000020004" pitchFamily="50" charset="0"/>
                <a:ea typeface="+mn-ea"/>
                <a:cs typeface="+mn-cs"/>
              </a:rPr>
              <a:t>El desempeño final del mejor modelo/</a:t>
            </a:r>
            <a:r>
              <a:rPr lang="es-ES" sz="1800" b="0" dirty="0" err="1">
                <a:latin typeface="Antenna Light" panose="02000503000000020004" pitchFamily="50" charset="0"/>
                <a:ea typeface="+mn-ea"/>
                <a:cs typeface="+mn-cs"/>
              </a:rPr>
              <a:t>hiperparámetros</a:t>
            </a:r>
            <a:r>
              <a:rPr lang="es-ES" sz="1800" b="0" dirty="0">
                <a:latin typeface="Antenna Light" panose="02000503000000020004" pitchFamily="50" charset="0"/>
                <a:ea typeface="+mn-ea"/>
                <a:cs typeface="+mn-cs"/>
              </a:rPr>
              <a:t> se mide con el conjunto Val</a:t>
            </a:r>
          </a:p>
          <a:p>
            <a:endParaRPr lang="en-CO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05D99B-3649-FDE5-D663-29C98DD80BE8}"/>
              </a:ext>
            </a:extLst>
          </p:cNvPr>
          <p:cNvSpPr txBox="1"/>
          <p:nvPr/>
        </p:nvSpPr>
        <p:spPr>
          <a:xfrm>
            <a:off x="9194105" y="7151632"/>
            <a:ext cx="66262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s-ES" sz="1800" b="0" dirty="0">
                <a:latin typeface="Antenna Light" panose="02000503000000020004" pitchFamily="50" charset="0"/>
                <a:ea typeface="+mn-ea"/>
                <a:cs typeface="+mn-cs"/>
              </a:rPr>
              <a:t>Para cada modelo/</a:t>
            </a:r>
            <a:r>
              <a:rPr lang="es-ES" sz="1800" b="0" dirty="0" err="1">
                <a:latin typeface="Antenna Light" panose="02000503000000020004" pitchFamily="50" charset="0"/>
                <a:ea typeface="+mn-ea"/>
                <a:cs typeface="+mn-cs"/>
              </a:rPr>
              <a:t>hiperparámetros</a:t>
            </a:r>
            <a:r>
              <a:rPr lang="es-ES" sz="1800" b="0" dirty="0">
                <a:latin typeface="Antenna Light" panose="02000503000000020004" pitchFamily="50" charset="0"/>
                <a:ea typeface="+mn-ea"/>
                <a:cs typeface="+mn-cs"/>
              </a:rPr>
              <a:t>, se hace validación cruzada dejando por fuera el conjunto “Val”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1800" b="0" dirty="0">
                <a:latin typeface="Antenna Light" panose="02000503000000020004" pitchFamily="50" charset="0"/>
                <a:ea typeface="+mn-ea"/>
                <a:cs typeface="+mn-cs"/>
              </a:rPr>
              <a:t>Se escoge el modelo con mejor desempeño.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1800" b="0" dirty="0">
                <a:latin typeface="Antenna Light" panose="02000503000000020004" pitchFamily="50" charset="0"/>
                <a:ea typeface="+mn-ea"/>
                <a:cs typeface="+mn-cs"/>
              </a:rPr>
              <a:t>El desempeño final del mejor modelo/</a:t>
            </a:r>
            <a:r>
              <a:rPr lang="es-ES" sz="1800" b="0" dirty="0" err="1">
                <a:latin typeface="Antenna Light" panose="02000503000000020004" pitchFamily="50" charset="0"/>
                <a:ea typeface="+mn-ea"/>
                <a:cs typeface="+mn-cs"/>
              </a:rPr>
              <a:t>hiperparámetros</a:t>
            </a:r>
            <a:r>
              <a:rPr lang="es-ES" sz="1800" b="0" dirty="0">
                <a:latin typeface="Antenna Light" panose="02000503000000020004" pitchFamily="50" charset="0"/>
                <a:ea typeface="+mn-ea"/>
                <a:cs typeface="+mn-cs"/>
              </a:rPr>
              <a:t> se mide con el conjunto Val</a:t>
            </a:r>
          </a:p>
          <a:p>
            <a:endParaRPr lang="en-CO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4D260-7855-9505-A65A-42126ED039B0}"/>
              </a:ext>
            </a:extLst>
          </p:cNvPr>
          <p:cNvSpPr txBox="1"/>
          <p:nvPr/>
        </p:nvSpPr>
        <p:spPr>
          <a:xfrm>
            <a:off x="6329364" y="4284828"/>
            <a:ext cx="5772150" cy="14465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O" sz="8800" dirty="0"/>
              <a:t>¡SIEMPRE!</a:t>
            </a:r>
          </a:p>
        </p:txBody>
      </p:sp>
    </p:spTree>
    <p:extLst>
      <p:ext uri="{BB962C8B-B14F-4D97-AF65-F5344CB8AC3E}">
        <p14:creationId xmlns:p14="http://schemas.microsoft.com/office/powerpoint/2010/main" val="144981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088552-E968-6E49-6D85-AD477FF3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5</a:t>
            </a:fld>
            <a:endParaRPr lang="es-CO"/>
          </a:p>
        </p:txBody>
      </p:sp>
      <p:sp>
        <p:nvSpPr>
          <p:cNvPr id="6" name="Google Shape;622;gd6ca21133a_0_94">
            <a:extLst>
              <a:ext uri="{FF2B5EF4-FFF2-40B4-BE49-F238E27FC236}">
                <a16:creationId xmlns:a16="http://schemas.microsoft.com/office/drawing/2014/main" id="{1B1EFFAA-B34B-4599-81F0-DC270AF45F44}"/>
              </a:ext>
            </a:extLst>
          </p:cNvPr>
          <p:cNvSpPr txBox="1"/>
          <p:nvPr/>
        </p:nvSpPr>
        <p:spPr>
          <a:xfrm>
            <a:off x="1671638" y="5111713"/>
            <a:ext cx="323597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32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PREDICHO</a:t>
            </a:r>
            <a:endParaRPr sz="3600" b="0" i="0" u="none" strike="noStrike" cap="none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7" name="Google Shape;623;gd6ca21133a_0_94">
            <a:extLst>
              <a:ext uri="{FF2B5EF4-FFF2-40B4-BE49-F238E27FC236}">
                <a16:creationId xmlns:a16="http://schemas.microsoft.com/office/drawing/2014/main" id="{87E93FB3-C90E-65FE-BB37-24E80CEAF7FB}"/>
              </a:ext>
            </a:extLst>
          </p:cNvPr>
          <p:cNvSpPr txBox="1"/>
          <p:nvPr/>
        </p:nvSpPr>
        <p:spPr>
          <a:xfrm>
            <a:off x="9201150" y="3098363"/>
            <a:ext cx="1439137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32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REAL</a:t>
            </a:r>
            <a:endParaRPr sz="3600" b="0" i="0" u="none" strike="noStrike" cap="none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aphicFrame>
        <p:nvGraphicFramePr>
          <p:cNvPr id="8" name="Google Shape;624;gd6ca21133a_0_94">
            <a:extLst>
              <a:ext uri="{FF2B5EF4-FFF2-40B4-BE49-F238E27FC236}">
                <a16:creationId xmlns:a16="http://schemas.microsoft.com/office/drawing/2014/main" id="{A4EEAB99-77EB-54B3-752F-D943B1D3E0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098941"/>
              </p:ext>
            </p:extLst>
          </p:nvPr>
        </p:nvGraphicFramePr>
        <p:xfrm>
          <a:off x="5186362" y="3775441"/>
          <a:ext cx="7300914" cy="280708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33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3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3200" b="1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3200" b="1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3200" b="1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CO" sz="320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3200" dirty="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rgbClr val="CC4125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3200" b="1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rgbClr val="CC4125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3200" dirty="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3200" dirty="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ítulo 1">
            <a:extLst>
              <a:ext uri="{FF2B5EF4-FFF2-40B4-BE49-F238E27FC236}">
                <a16:creationId xmlns:a16="http://schemas.microsoft.com/office/drawing/2014/main" id="{03C0BEAF-E78F-CED0-A27C-E831CDCC42D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Matriz de confusión</a:t>
            </a:r>
          </a:p>
        </p:txBody>
      </p:sp>
    </p:spTree>
    <p:extLst>
      <p:ext uri="{BB962C8B-B14F-4D97-AF65-F5344CB8AC3E}">
        <p14:creationId xmlns:p14="http://schemas.microsoft.com/office/powerpoint/2010/main" val="4099304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088552-E968-6E49-6D85-AD477FF3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6</a:t>
            </a:fld>
            <a:endParaRPr lang="es-CO"/>
          </a:p>
        </p:txBody>
      </p:sp>
      <p:sp>
        <p:nvSpPr>
          <p:cNvPr id="6" name="Google Shape;622;gd6ca21133a_0_94">
            <a:extLst>
              <a:ext uri="{FF2B5EF4-FFF2-40B4-BE49-F238E27FC236}">
                <a16:creationId xmlns:a16="http://schemas.microsoft.com/office/drawing/2014/main" id="{1B1EFFAA-B34B-4599-81F0-DC270AF45F44}"/>
              </a:ext>
            </a:extLst>
          </p:cNvPr>
          <p:cNvSpPr txBox="1"/>
          <p:nvPr/>
        </p:nvSpPr>
        <p:spPr>
          <a:xfrm>
            <a:off x="1671638" y="5111713"/>
            <a:ext cx="323597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32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PREDICHO</a:t>
            </a:r>
            <a:endParaRPr sz="3600" b="0" i="0" u="none" strike="noStrike" cap="none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aphicFrame>
        <p:nvGraphicFramePr>
          <p:cNvPr id="8" name="Google Shape;624;gd6ca21133a_0_94">
            <a:extLst>
              <a:ext uri="{FF2B5EF4-FFF2-40B4-BE49-F238E27FC236}">
                <a16:creationId xmlns:a16="http://schemas.microsoft.com/office/drawing/2014/main" id="{A4EEAB99-77EB-54B3-752F-D943B1D3E0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1315337"/>
              </p:ext>
            </p:extLst>
          </p:nvPr>
        </p:nvGraphicFramePr>
        <p:xfrm>
          <a:off x="5186362" y="3775441"/>
          <a:ext cx="7486651" cy="280708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33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3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3200" b="1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3200" b="1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3200" b="1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dirty="0">
                          <a:solidFill>
                            <a:srgbClr val="38761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# Verdadero Negativos</a:t>
                      </a:r>
                      <a:endParaRPr sz="3200" dirty="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rgbClr val="CC4125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3200" b="1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>
                        <a:solidFill>
                          <a:srgbClr val="CC4125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dirty="0">
                          <a:solidFill>
                            <a:srgbClr val="38761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# Verdaderos Positivos</a:t>
                      </a:r>
                      <a:endParaRPr sz="3200" dirty="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E53E7DE2-34EE-D286-0C57-0CCB3B2042F0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Matriz de confusión</a:t>
            </a:r>
          </a:p>
        </p:txBody>
      </p:sp>
      <p:sp>
        <p:nvSpPr>
          <p:cNvPr id="4" name="Google Shape;623;gd6ca21133a_0_94">
            <a:extLst>
              <a:ext uri="{FF2B5EF4-FFF2-40B4-BE49-F238E27FC236}">
                <a16:creationId xmlns:a16="http://schemas.microsoft.com/office/drawing/2014/main" id="{66898639-56A4-C324-B270-5015E440058A}"/>
              </a:ext>
            </a:extLst>
          </p:cNvPr>
          <p:cNvSpPr txBox="1"/>
          <p:nvPr/>
        </p:nvSpPr>
        <p:spPr>
          <a:xfrm>
            <a:off x="9201150" y="3098363"/>
            <a:ext cx="1439137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32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REAL</a:t>
            </a:r>
            <a:endParaRPr sz="3600" b="0" i="0" u="none" strike="noStrike" cap="none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067461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088552-E968-6E49-6D85-AD477FF3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7</a:t>
            </a:fld>
            <a:endParaRPr lang="es-CO"/>
          </a:p>
        </p:txBody>
      </p:sp>
      <p:sp>
        <p:nvSpPr>
          <p:cNvPr id="6" name="Google Shape;622;gd6ca21133a_0_94">
            <a:extLst>
              <a:ext uri="{FF2B5EF4-FFF2-40B4-BE49-F238E27FC236}">
                <a16:creationId xmlns:a16="http://schemas.microsoft.com/office/drawing/2014/main" id="{1B1EFFAA-B34B-4599-81F0-DC270AF45F44}"/>
              </a:ext>
            </a:extLst>
          </p:cNvPr>
          <p:cNvSpPr txBox="1"/>
          <p:nvPr/>
        </p:nvSpPr>
        <p:spPr>
          <a:xfrm>
            <a:off x="1671638" y="5111713"/>
            <a:ext cx="323597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32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PREDICHO</a:t>
            </a:r>
            <a:endParaRPr sz="3600" b="0" i="0" u="none" strike="noStrike" cap="none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aphicFrame>
        <p:nvGraphicFramePr>
          <p:cNvPr id="8" name="Google Shape;624;gd6ca21133a_0_94">
            <a:extLst>
              <a:ext uri="{FF2B5EF4-FFF2-40B4-BE49-F238E27FC236}">
                <a16:creationId xmlns:a16="http://schemas.microsoft.com/office/drawing/2014/main" id="{A4EEAB99-77EB-54B3-752F-D943B1D3E0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316367"/>
              </p:ext>
            </p:extLst>
          </p:nvPr>
        </p:nvGraphicFramePr>
        <p:xfrm>
          <a:off x="5186362" y="3775441"/>
          <a:ext cx="7300914" cy="280708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33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3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3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3200" b="1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3200" b="1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3200" b="1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 dirty="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dirty="0">
                          <a:solidFill>
                            <a:srgbClr val="CC412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# Falsos Negativos</a:t>
                      </a:r>
                      <a:endParaRPr sz="3200" dirty="0">
                        <a:solidFill>
                          <a:srgbClr val="CC4125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 dirty="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3200" b="1" dirty="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dirty="0">
                          <a:solidFill>
                            <a:srgbClr val="CC412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# Falsos Positivos</a:t>
                      </a:r>
                      <a:endParaRPr sz="3200" dirty="0">
                        <a:solidFill>
                          <a:srgbClr val="CC4125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200" dirty="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799CD370-3176-2BC0-502C-9846228ABB0D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Matriz de confusión</a:t>
            </a:r>
          </a:p>
        </p:txBody>
      </p:sp>
      <p:sp>
        <p:nvSpPr>
          <p:cNvPr id="4" name="Google Shape;623;gd6ca21133a_0_94">
            <a:extLst>
              <a:ext uri="{FF2B5EF4-FFF2-40B4-BE49-F238E27FC236}">
                <a16:creationId xmlns:a16="http://schemas.microsoft.com/office/drawing/2014/main" id="{3331D592-FE81-51B1-352B-69C3C969ABEF}"/>
              </a:ext>
            </a:extLst>
          </p:cNvPr>
          <p:cNvSpPr txBox="1"/>
          <p:nvPr/>
        </p:nvSpPr>
        <p:spPr>
          <a:xfrm>
            <a:off x="9201150" y="3098363"/>
            <a:ext cx="1439137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32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REAL</a:t>
            </a:r>
            <a:endParaRPr sz="3600" b="0" i="0" u="none" strike="noStrike" cap="none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867827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088552-E968-6E49-6D85-AD477FF3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8</a:t>
            </a:fld>
            <a:endParaRPr lang="es-CO"/>
          </a:p>
        </p:txBody>
      </p:sp>
      <p:sp>
        <p:nvSpPr>
          <p:cNvPr id="6" name="Google Shape;622;gd6ca21133a_0_94">
            <a:extLst>
              <a:ext uri="{FF2B5EF4-FFF2-40B4-BE49-F238E27FC236}">
                <a16:creationId xmlns:a16="http://schemas.microsoft.com/office/drawing/2014/main" id="{1B1EFFAA-B34B-4599-81F0-DC270AF45F44}"/>
              </a:ext>
            </a:extLst>
          </p:cNvPr>
          <p:cNvSpPr txBox="1"/>
          <p:nvPr/>
        </p:nvSpPr>
        <p:spPr>
          <a:xfrm>
            <a:off x="1671638" y="5111713"/>
            <a:ext cx="323597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32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PREDICHO</a:t>
            </a:r>
            <a:endParaRPr sz="3600" b="0" i="0" u="none" strike="noStrike" cap="none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7" name="Google Shape;623;gd6ca21133a_0_94">
            <a:extLst>
              <a:ext uri="{FF2B5EF4-FFF2-40B4-BE49-F238E27FC236}">
                <a16:creationId xmlns:a16="http://schemas.microsoft.com/office/drawing/2014/main" id="{87E93FB3-C90E-65FE-BB37-24E80CEAF7FB}"/>
              </a:ext>
            </a:extLst>
          </p:cNvPr>
          <p:cNvSpPr txBox="1"/>
          <p:nvPr/>
        </p:nvSpPr>
        <p:spPr>
          <a:xfrm>
            <a:off x="9637986" y="3098363"/>
            <a:ext cx="1284937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320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REAL</a:t>
            </a:r>
            <a:endParaRPr sz="3600" b="0" i="0" u="none" strike="noStrike" cap="none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aphicFrame>
        <p:nvGraphicFramePr>
          <p:cNvPr id="8" name="Google Shape;624;gd6ca21133a_0_94">
            <a:extLst>
              <a:ext uri="{FF2B5EF4-FFF2-40B4-BE49-F238E27FC236}">
                <a16:creationId xmlns:a16="http://schemas.microsoft.com/office/drawing/2014/main" id="{A4EEAB99-77EB-54B3-752F-D943B1D3E0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3702488"/>
              </p:ext>
            </p:extLst>
          </p:nvPr>
        </p:nvGraphicFramePr>
        <p:xfrm>
          <a:off x="5186362" y="3775441"/>
          <a:ext cx="7500938" cy="280708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33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3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32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32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32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dirty="0">
                          <a:solidFill>
                            <a:srgbClr val="38761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# Verdadero Negativos</a:t>
                      </a:r>
                      <a:endParaRPr sz="3200" dirty="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>
                          <a:solidFill>
                            <a:srgbClr val="CC412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# Falsos Negativos</a:t>
                      </a:r>
                      <a:endParaRPr sz="3200">
                        <a:solidFill>
                          <a:srgbClr val="CC4125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32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>
                          <a:solidFill>
                            <a:srgbClr val="CC412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# Falsos Positivos</a:t>
                      </a:r>
                      <a:endParaRPr sz="3200">
                        <a:solidFill>
                          <a:srgbClr val="CC4125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200" dirty="0">
                          <a:solidFill>
                            <a:srgbClr val="38761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# Verdaderos Positivos</a:t>
                      </a:r>
                      <a:endParaRPr sz="3200" dirty="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25C5ABF7-72AB-4B51-1486-38EBCA077511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Matriz de confusión</a:t>
            </a:r>
          </a:p>
        </p:txBody>
      </p:sp>
    </p:spTree>
    <p:extLst>
      <p:ext uri="{BB962C8B-B14F-4D97-AF65-F5344CB8AC3E}">
        <p14:creationId xmlns:p14="http://schemas.microsoft.com/office/powerpoint/2010/main" val="1928481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9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Accuracy</a:t>
            </a:r>
            <a:endParaRPr lang="es-CO" sz="5400" dirty="0">
              <a:solidFill>
                <a:srgbClr val="652B90"/>
              </a:solidFill>
              <a:latin typeface="Antenna Light" panose="02000503000000020004" pitchFamily="50" charset="0"/>
              <a:ea typeface="+mn-ea"/>
              <a:cs typeface="+mn-cs"/>
            </a:endParaRPr>
          </a:p>
        </p:txBody>
      </p:sp>
      <p:sp>
        <p:nvSpPr>
          <p:cNvPr id="7" name="Google Shape;675;gdc5622224f_0_1640">
            <a:extLst>
              <a:ext uri="{FF2B5EF4-FFF2-40B4-BE49-F238E27FC236}">
                <a16:creationId xmlns:a16="http://schemas.microsoft.com/office/drawing/2014/main" id="{1B4A7421-80C3-67A0-C43E-4729C32D9E00}"/>
              </a:ext>
            </a:extLst>
          </p:cNvPr>
          <p:cNvSpPr/>
          <p:nvPr/>
        </p:nvSpPr>
        <p:spPr>
          <a:xfrm rot="-5400000">
            <a:off x="9324040" y="1428426"/>
            <a:ext cx="240000" cy="5372097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8" name="Google Shape;676;gdc5622224f_0_1640">
            <a:extLst>
              <a:ext uri="{FF2B5EF4-FFF2-40B4-BE49-F238E27FC236}">
                <a16:creationId xmlns:a16="http://schemas.microsoft.com/office/drawing/2014/main" id="{148E6BF4-7CFA-7580-743B-5036E82633A5}"/>
              </a:ext>
            </a:extLst>
          </p:cNvPr>
          <p:cNvSpPr txBox="1"/>
          <p:nvPr/>
        </p:nvSpPr>
        <p:spPr>
          <a:xfrm>
            <a:off x="7417933" y="3071175"/>
            <a:ext cx="445497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 dirty="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Total correctas</a:t>
            </a:r>
            <a:endParaRPr sz="4800" dirty="0"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" name="Google Shape;677;gdc5622224f_0_1640">
            <a:extLst>
              <a:ext uri="{FF2B5EF4-FFF2-40B4-BE49-F238E27FC236}">
                <a16:creationId xmlns:a16="http://schemas.microsoft.com/office/drawing/2014/main" id="{A37A446B-E481-6130-9AFB-D86DC207D2C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40711" y="4383825"/>
            <a:ext cx="8411614" cy="13770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84;gdc5622224f_0_1649">
            <a:extLst>
              <a:ext uri="{FF2B5EF4-FFF2-40B4-BE49-F238E27FC236}">
                <a16:creationId xmlns:a16="http://schemas.microsoft.com/office/drawing/2014/main" id="{5C4BA9C0-2092-6549-CB2B-D82AA38FF0F8}"/>
              </a:ext>
            </a:extLst>
          </p:cNvPr>
          <p:cNvSpPr/>
          <p:nvPr/>
        </p:nvSpPr>
        <p:spPr>
          <a:xfrm rot="5400000">
            <a:off x="9431566" y="3308583"/>
            <a:ext cx="247191" cy="5394325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4" name="Google Shape;685;gdc5622224f_0_1649">
            <a:extLst>
              <a:ext uri="{FF2B5EF4-FFF2-40B4-BE49-F238E27FC236}">
                <a16:creationId xmlns:a16="http://schemas.microsoft.com/office/drawing/2014/main" id="{1E571E9D-9C70-6685-C47A-13296099B2AE}"/>
              </a:ext>
            </a:extLst>
          </p:cNvPr>
          <p:cNvSpPr txBox="1"/>
          <p:nvPr/>
        </p:nvSpPr>
        <p:spPr>
          <a:xfrm>
            <a:off x="7086600" y="6271500"/>
            <a:ext cx="5165723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 dirty="0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</a:rPr>
              <a:t>Total datos</a:t>
            </a:r>
            <a:endParaRPr sz="4800" dirty="0">
              <a:solidFill>
                <a:srgbClr val="1155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32805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/>
      <p:bldP spid="8" grpId="1"/>
      <p:bldP spid="3" grpId="0" animBg="1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10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Problemas con el </a:t>
            </a:r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Accuracy</a:t>
            </a:r>
            <a:endParaRPr lang="es-CO" sz="5400" dirty="0">
              <a:solidFill>
                <a:srgbClr val="652B90"/>
              </a:solidFill>
              <a:latin typeface="Antenna Light" panose="02000503000000020004" pitchFamily="50" charset="0"/>
              <a:ea typeface="+mn-ea"/>
              <a:cs typeface="+mn-cs"/>
            </a:endParaRPr>
          </a:p>
        </p:txBody>
      </p:sp>
      <p:sp>
        <p:nvSpPr>
          <p:cNvPr id="5" name="Google Shape;691;gdc5622224f_0_1489">
            <a:extLst>
              <a:ext uri="{FF2B5EF4-FFF2-40B4-BE49-F238E27FC236}">
                <a16:creationId xmlns:a16="http://schemas.microsoft.com/office/drawing/2014/main" id="{416C4EBA-C729-7925-15C4-94DE727870DB}"/>
              </a:ext>
            </a:extLst>
          </p:cNvPr>
          <p:cNvSpPr txBox="1"/>
          <p:nvPr/>
        </p:nvSpPr>
        <p:spPr>
          <a:xfrm>
            <a:off x="1250475" y="2593812"/>
            <a:ext cx="14608650" cy="572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40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Problema: Identificar si un tumor es benigno o maligno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</a:pPr>
            <a:endParaRPr lang="es"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40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Tumor </a:t>
            </a:r>
            <a:r>
              <a:rPr lang="en-US" sz="4000" dirty="0" err="1">
                <a:latin typeface="Proxima Nova Semibold"/>
                <a:ea typeface="Proxima Nova Semibold"/>
                <a:cs typeface="Proxima Nova Semibold"/>
                <a:sym typeface="Proxima Nova Semibold"/>
              </a:rPr>
              <a:t>benigno</a:t>
            </a:r>
            <a:r>
              <a:rPr lang="en-US" sz="40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:       0 – </a:t>
            </a:r>
            <a:r>
              <a:rPr lang="en-US" sz="4000" dirty="0" err="1">
                <a:latin typeface="Proxima Nova Semibold"/>
                <a:ea typeface="Proxima Nova Semibold"/>
                <a:cs typeface="Proxima Nova Semibold"/>
                <a:sym typeface="Proxima Nova Semibold"/>
              </a:rPr>
              <a:t>negativo</a:t>
            </a:r>
            <a:endParaRPr lang="en-US"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>
              <a:buClr>
                <a:srgbClr val="000000"/>
              </a:buClr>
              <a:buSzPts val="1900"/>
            </a:pPr>
            <a:r>
              <a:rPr lang="en-US" sz="40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                       </a:t>
            </a:r>
            <a:r>
              <a:rPr lang="en-US" sz="4000" dirty="0">
                <a:solidFill>
                  <a:srgbClr val="38761D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95 </a:t>
            </a:r>
            <a:r>
              <a:rPr lang="en-US" sz="4000" dirty="0" err="1">
                <a:solidFill>
                  <a:srgbClr val="38761D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casos</a:t>
            </a:r>
            <a:endParaRPr lang="en-US"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lang="en-US"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40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Tumor </a:t>
            </a:r>
            <a:r>
              <a:rPr lang="en-US" sz="4000" dirty="0" err="1">
                <a:latin typeface="Proxima Nova Semibold"/>
                <a:ea typeface="Proxima Nova Semibold"/>
                <a:cs typeface="Proxima Nova Semibold"/>
                <a:sym typeface="Proxima Nova Semibold"/>
              </a:rPr>
              <a:t>maligno</a:t>
            </a:r>
            <a:r>
              <a:rPr lang="en-US" sz="40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:        1 – </a:t>
            </a:r>
            <a:r>
              <a:rPr lang="en-US" sz="4000" dirty="0" err="1">
                <a:latin typeface="Proxima Nova Semibold"/>
                <a:ea typeface="Proxima Nova Semibold"/>
                <a:cs typeface="Proxima Nova Semibold"/>
                <a:sym typeface="Proxima Nova Semibold"/>
              </a:rPr>
              <a:t>positivo</a:t>
            </a:r>
            <a:endParaRPr lang="en-US"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40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                        </a:t>
            </a:r>
            <a:r>
              <a:rPr lang="es" sz="4000" dirty="0">
                <a:solidFill>
                  <a:srgbClr val="FF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5 casos</a:t>
            </a:r>
            <a:endParaRPr lang="en-US"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endParaRPr lang="es-ES"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endParaRPr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171863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11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Problemas con el </a:t>
            </a:r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Accuracy</a:t>
            </a:r>
            <a:endParaRPr lang="es-CO" sz="5400" dirty="0">
              <a:solidFill>
                <a:srgbClr val="652B90"/>
              </a:solidFill>
              <a:latin typeface="Antenna Light" panose="02000503000000020004" pitchFamily="50" charset="0"/>
              <a:ea typeface="+mn-ea"/>
              <a:cs typeface="+mn-cs"/>
            </a:endParaRPr>
          </a:p>
        </p:txBody>
      </p:sp>
      <p:sp>
        <p:nvSpPr>
          <p:cNvPr id="3" name="Google Shape;718;gdc5622224f_0_1658">
            <a:extLst>
              <a:ext uri="{FF2B5EF4-FFF2-40B4-BE49-F238E27FC236}">
                <a16:creationId xmlns:a16="http://schemas.microsoft.com/office/drawing/2014/main" id="{F2DB5169-03A4-D110-4310-DED0ECCA3C24}"/>
              </a:ext>
            </a:extLst>
          </p:cNvPr>
          <p:cNvSpPr txBox="1"/>
          <p:nvPr/>
        </p:nvSpPr>
        <p:spPr>
          <a:xfrm>
            <a:off x="1557338" y="4399287"/>
            <a:ext cx="1731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230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PREDICHO</a:t>
            </a:r>
            <a:endParaRPr sz="2700" b="0" i="0" u="none" strike="noStrike" cap="none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4" name="Google Shape;719;gdc5622224f_0_1658">
            <a:extLst>
              <a:ext uri="{FF2B5EF4-FFF2-40B4-BE49-F238E27FC236}">
                <a16:creationId xmlns:a16="http://schemas.microsoft.com/office/drawing/2014/main" id="{C6847140-43F3-60F7-4965-45081D819236}"/>
              </a:ext>
            </a:extLst>
          </p:cNvPr>
          <p:cNvSpPr txBox="1"/>
          <p:nvPr/>
        </p:nvSpPr>
        <p:spPr>
          <a:xfrm>
            <a:off x="4808813" y="3238412"/>
            <a:ext cx="1002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230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REAL</a:t>
            </a:r>
            <a:endParaRPr sz="2700" b="0" i="0" u="none" strike="noStrike" cap="none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aphicFrame>
        <p:nvGraphicFramePr>
          <p:cNvPr id="7" name="Google Shape;720;gdc5622224f_0_1658">
            <a:extLst>
              <a:ext uri="{FF2B5EF4-FFF2-40B4-BE49-F238E27FC236}">
                <a16:creationId xmlns:a16="http://schemas.microsoft.com/office/drawing/2014/main" id="{649D387A-1B82-4587-D017-7FC1E1622071}"/>
              </a:ext>
            </a:extLst>
          </p:cNvPr>
          <p:cNvGraphicFramePr/>
          <p:nvPr/>
        </p:nvGraphicFramePr>
        <p:xfrm>
          <a:off x="3481388" y="3769112"/>
          <a:ext cx="2857500" cy="13078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24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24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24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>
                          <a:solidFill>
                            <a:srgbClr val="38761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93</a:t>
                      </a:r>
                      <a:endParaRPr sz="240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>
                          <a:solidFill>
                            <a:srgbClr val="CC412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</a:t>
                      </a:r>
                      <a:endParaRPr sz="2400">
                        <a:solidFill>
                          <a:srgbClr val="CC4125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24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>
                          <a:solidFill>
                            <a:srgbClr val="CC412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sz="2400">
                        <a:solidFill>
                          <a:srgbClr val="CC4125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 dirty="0">
                          <a:solidFill>
                            <a:srgbClr val="38761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2400" dirty="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Google Shape;721;gdc5622224f_0_1658">
            <a:extLst>
              <a:ext uri="{FF2B5EF4-FFF2-40B4-BE49-F238E27FC236}">
                <a16:creationId xmlns:a16="http://schemas.microsoft.com/office/drawing/2014/main" id="{1782CCD6-F04B-D4B1-5630-E87034532286}"/>
              </a:ext>
            </a:extLst>
          </p:cNvPr>
          <p:cNvSpPr txBox="1"/>
          <p:nvPr/>
        </p:nvSpPr>
        <p:spPr>
          <a:xfrm>
            <a:off x="1593788" y="5610808"/>
            <a:ext cx="38415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22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22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Accuracy = (93+1)/(93+1+4+2)</a:t>
            </a:r>
            <a:endParaRPr sz="22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22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     </a:t>
            </a:r>
            <a:endParaRPr sz="22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22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     = 0.94</a:t>
            </a:r>
            <a:endParaRPr sz="22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9" name="Google Shape;722;gdc5622224f_0_1658">
            <a:extLst>
              <a:ext uri="{FF2B5EF4-FFF2-40B4-BE49-F238E27FC236}">
                <a16:creationId xmlns:a16="http://schemas.microsoft.com/office/drawing/2014/main" id="{4842695B-A4FE-C738-FEE3-8589BC456972}"/>
              </a:ext>
            </a:extLst>
          </p:cNvPr>
          <p:cNvSpPr txBox="1"/>
          <p:nvPr/>
        </p:nvSpPr>
        <p:spPr>
          <a:xfrm>
            <a:off x="2014538" y="2592737"/>
            <a:ext cx="30000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MODELO 1:</a:t>
            </a:r>
            <a:endParaRPr sz="2800" dirty="0"/>
          </a:p>
        </p:txBody>
      </p:sp>
      <p:cxnSp>
        <p:nvCxnSpPr>
          <p:cNvPr id="10" name="Google Shape;733;gdc5622224f_0_1546">
            <a:extLst>
              <a:ext uri="{FF2B5EF4-FFF2-40B4-BE49-F238E27FC236}">
                <a16:creationId xmlns:a16="http://schemas.microsoft.com/office/drawing/2014/main" id="{B1AF60CE-DFAA-219B-8A14-3161222BEE7B}"/>
              </a:ext>
            </a:extLst>
          </p:cNvPr>
          <p:cNvCxnSpPr>
            <a:cxnSpLocks/>
          </p:cNvCxnSpPr>
          <p:nvPr/>
        </p:nvCxnSpPr>
        <p:spPr>
          <a:xfrm flipH="1" flipV="1">
            <a:off x="6114713" y="5233929"/>
            <a:ext cx="729000" cy="753758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734;gdc5622224f_0_1546">
            <a:extLst>
              <a:ext uri="{FF2B5EF4-FFF2-40B4-BE49-F238E27FC236}">
                <a16:creationId xmlns:a16="http://schemas.microsoft.com/office/drawing/2014/main" id="{E30FFE11-D3B8-C6A7-7BFD-792760A5FAA0}"/>
              </a:ext>
            </a:extLst>
          </p:cNvPr>
          <p:cNvSpPr txBox="1"/>
          <p:nvPr/>
        </p:nvSpPr>
        <p:spPr>
          <a:xfrm>
            <a:off x="5860738" y="6053146"/>
            <a:ext cx="1707325" cy="106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 tumor maligno identificado</a:t>
            </a:r>
            <a:endParaRPr sz="1900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Google Shape;735;gdc5622224f_0_1546">
            <a:extLst>
              <a:ext uri="{FF2B5EF4-FFF2-40B4-BE49-F238E27FC236}">
                <a16:creationId xmlns:a16="http://schemas.microsoft.com/office/drawing/2014/main" id="{DC65223A-3833-1B8D-CAD3-94E77BD89A1D}"/>
              </a:ext>
            </a:extLst>
          </p:cNvPr>
          <p:cNvSpPr/>
          <p:nvPr/>
        </p:nvSpPr>
        <p:spPr>
          <a:xfrm>
            <a:off x="5515588" y="4676679"/>
            <a:ext cx="690300" cy="4770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761;gdc5622224f_0_1570">
            <a:extLst>
              <a:ext uri="{FF2B5EF4-FFF2-40B4-BE49-F238E27FC236}">
                <a16:creationId xmlns:a16="http://schemas.microsoft.com/office/drawing/2014/main" id="{CC800AD3-3A03-F1C7-E11C-E5D099362434}"/>
              </a:ext>
            </a:extLst>
          </p:cNvPr>
          <p:cNvSpPr txBox="1"/>
          <p:nvPr/>
        </p:nvSpPr>
        <p:spPr>
          <a:xfrm>
            <a:off x="11540979" y="3235390"/>
            <a:ext cx="1002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230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REAL</a:t>
            </a:r>
            <a:endParaRPr sz="2700" b="0" i="0" u="none" strike="noStrike" cap="none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graphicFrame>
        <p:nvGraphicFramePr>
          <p:cNvPr id="15" name="Google Shape;762;gdc5622224f_0_1570">
            <a:extLst>
              <a:ext uri="{FF2B5EF4-FFF2-40B4-BE49-F238E27FC236}">
                <a16:creationId xmlns:a16="http://schemas.microsoft.com/office/drawing/2014/main" id="{55A1F873-F318-A936-8743-7DE44751ED1C}"/>
              </a:ext>
            </a:extLst>
          </p:cNvPr>
          <p:cNvGraphicFramePr/>
          <p:nvPr/>
        </p:nvGraphicFramePr>
        <p:xfrm>
          <a:off x="10213554" y="3766090"/>
          <a:ext cx="2857500" cy="13078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24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24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24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>
                          <a:solidFill>
                            <a:srgbClr val="38761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95</a:t>
                      </a:r>
                      <a:endParaRPr sz="240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>
                          <a:solidFill>
                            <a:srgbClr val="CC412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2400">
                        <a:solidFill>
                          <a:srgbClr val="CC4125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24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>
                          <a:solidFill>
                            <a:srgbClr val="CC4125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2400">
                        <a:solidFill>
                          <a:srgbClr val="CC4125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400">
                          <a:solidFill>
                            <a:srgbClr val="38761D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</a:t>
                      </a:r>
                      <a:endParaRPr sz="2400">
                        <a:solidFill>
                          <a:srgbClr val="38761D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Google Shape;763;gdc5622224f_0_1570">
            <a:extLst>
              <a:ext uri="{FF2B5EF4-FFF2-40B4-BE49-F238E27FC236}">
                <a16:creationId xmlns:a16="http://schemas.microsoft.com/office/drawing/2014/main" id="{40E10F0A-1467-283F-7C0B-231B0812A79B}"/>
              </a:ext>
            </a:extLst>
          </p:cNvPr>
          <p:cNvSpPr txBox="1"/>
          <p:nvPr/>
        </p:nvSpPr>
        <p:spPr>
          <a:xfrm>
            <a:off x="9534279" y="5610808"/>
            <a:ext cx="40134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22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22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Accuracy = (95+0)/(95+0+0+0)</a:t>
            </a:r>
            <a:endParaRPr sz="22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22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     </a:t>
            </a:r>
            <a:endParaRPr sz="22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" sz="2200" dirty="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      = 0.95</a:t>
            </a:r>
            <a:endParaRPr sz="22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7" name="Google Shape;764;gdc5622224f_0_1570">
            <a:extLst>
              <a:ext uri="{FF2B5EF4-FFF2-40B4-BE49-F238E27FC236}">
                <a16:creationId xmlns:a16="http://schemas.microsoft.com/office/drawing/2014/main" id="{69370342-9FFE-4F9D-40C6-7FE7E223D9B5}"/>
              </a:ext>
            </a:extLst>
          </p:cNvPr>
          <p:cNvSpPr txBox="1"/>
          <p:nvPr/>
        </p:nvSpPr>
        <p:spPr>
          <a:xfrm>
            <a:off x="8746704" y="2589715"/>
            <a:ext cx="30000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MODELO 2:</a:t>
            </a:r>
            <a:endParaRPr sz="2800" dirty="0"/>
          </a:p>
        </p:txBody>
      </p:sp>
      <p:cxnSp>
        <p:nvCxnSpPr>
          <p:cNvPr id="18" name="Google Shape;765;gdc5622224f_0_1570">
            <a:extLst>
              <a:ext uri="{FF2B5EF4-FFF2-40B4-BE49-F238E27FC236}">
                <a16:creationId xmlns:a16="http://schemas.microsoft.com/office/drawing/2014/main" id="{35CA7C0C-F7FE-6906-2F14-DAAC55DAF538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12846879" y="5245365"/>
            <a:ext cx="1091578" cy="576336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766;gdc5622224f_0_1570">
            <a:extLst>
              <a:ext uri="{FF2B5EF4-FFF2-40B4-BE49-F238E27FC236}">
                <a16:creationId xmlns:a16="http://schemas.microsoft.com/office/drawing/2014/main" id="{1ACF4458-F25A-5424-A007-4E23FDFFFFA8}"/>
              </a:ext>
            </a:extLst>
          </p:cNvPr>
          <p:cNvSpPr txBox="1"/>
          <p:nvPr/>
        </p:nvSpPr>
        <p:spPr>
          <a:xfrm>
            <a:off x="13938457" y="5290801"/>
            <a:ext cx="1488222" cy="106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0 tumores malignos identificados</a:t>
            </a:r>
            <a:endParaRPr sz="1900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767;gdc5622224f_0_1570">
            <a:extLst>
              <a:ext uri="{FF2B5EF4-FFF2-40B4-BE49-F238E27FC236}">
                <a16:creationId xmlns:a16="http://schemas.microsoft.com/office/drawing/2014/main" id="{9E814BE9-4882-25A6-E337-1C8D7D14CBBE}"/>
              </a:ext>
            </a:extLst>
          </p:cNvPr>
          <p:cNvSpPr/>
          <p:nvPr/>
        </p:nvSpPr>
        <p:spPr>
          <a:xfrm>
            <a:off x="12247754" y="4659665"/>
            <a:ext cx="690300" cy="4770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03E11F-09B6-2D1A-99D3-AF4A705F3BB1}"/>
              </a:ext>
            </a:extLst>
          </p:cNvPr>
          <p:cNvSpPr txBox="1"/>
          <p:nvPr/>
        </p:nvSpPr>
        <p:spPr>
          <a:xfrm>
            <a:off x="1593788" y="7624251"/>
            <a:ext cx="8978962" cy="12003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El accuracy </a:t>
            </a:r>
            <a:r>
              <a:rPr lang="en-US" sz="36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tiene</a:t>
            </a:r>
            <a:r>
              <a:rPr lang="en-US" sz="36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36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problemas</a:t>
            </a:r>
            <a:r>
              <a:rPr lang="en-US" sz="36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36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cuando</a:t>
            </a:r>
            <a:r>
              <a:rPr lang="en-US" sz="36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36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el</a:t>
            </a:r>
            <a:r>
              <a:rPr lang="en-US" sz="36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conjunto de </a:t>
            </a:r>
            <a:r>
              <a:rPr lang="en-US" sz="36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datos</a:t>
            </a:r>
            <a:r>
              <a:rPr lang="en-US" sz="36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36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está</a:t>
            </a:r>
            <a:r>
              <a:rPr lang="en-US" sz="36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3600" dirty="0" err="1">
                <a:solidFill>
                  <a:srgbClr val="CC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desbalanceado</a:t>
            </a:r>
            <a:r>
              <a:rPr lang="en-US" sz="3600" dirty="0">
                <a:solidFill>
                  <a:srgbClr val="CC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.</a:t>
            </a:r>
            <a:endParaRPr lang="en-US" sz="36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29580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12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Precisión</a:t>
            </a:r>
          </a:p>
        </p:txBody>
      </p:sp>
      <p:pic>
        <p:nvPicPr>
          <p:cNvPr id="5" name="Google Shape;796;gdc5622224f_0_1594">
            <a:extLst>
              <a:ext uri="{FF2B5EF4-FFF2-40B4-BE49-F238E27FC236}">
                <a16:creationId xmlns:a16="http://schemas.microsoft.com/office/drawing/2014/main" id="{7CD57EC8-48F8-A776-4D32-935EF0FC4AF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72013" y="4346826"/>
            <a:ext cx="6313352" cy="15681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7;gdc5622224f_0_1594">
            <a:extLst>
              <a:ext uri="{FF2B5EF4-FFF2-40B4-BE49-F238E27FC236}">
                <a16:creationId xmlns:a16="http://schemas.microsoft.com/office/drawing/2014/main" id="{9D8BDABF-62EB-01E7-A603-A81583D8A823}"/>
              </a:ext>
            </a:extLst>
          </p:cNvPr>
          <p:cNvSpPr/>
          <p:nvPr/>
        </p:nvSpPr>
        <p:spPr>
          <a:xfrm rot="-5400000">
            <a:off x="9222263" y="2735738"/>
            <a:ext cx="190180" cy="265367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8" name="Google Shape;798;gdc5622224f_0_1594">
            <a:extLst>
              <a:ext uri="{FF2B5EF4-FFF2-40B4-BE49-F238E27FC236}">
                <a16:creationId xmlns:a16="http://schemas.microsoft.com/office/drawing/2014/main" id="{A3B5B690-B3F0-10E6-EE5D-8C95D2338A36}"/>
              </a:ext>
            </a:extLst>
          </p:cNvPr>
          <p:cNvSpPr txBox="1"/>
          <p:nvPr/>
        </p:nvSpPr>
        <p:spPr>
          <a:xfrm>
            <a:off x="7364053" y="2210938"/>
            <a:ext cx="39066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38761D"/>
                </a:solidFill>
              </a:rPr>
              <a:t>Identificados correctamente como positivos </a:t>
            </a:r>
            <a:endParaRPr sz="3200" dirty="0">
              <a:solidFill>
                <a:srgbClr val="38761D"/>
              </a:solidFill>
            </a:endParaRPr>
          </a:p>
        </p:txBody>
      </p:sp>
      <p:sp>
        <p:nvSpPr>
          <p:cNvPr id="3" name="Google Shape;805;gdc5622224f_0_1683">
            <a:extLst>
              <a:ext uri="{FF2B5EF4-FFF2-40B4-BE49-F238E27FC236}">
                <a16:creationId xmlns:a16="http://schemas.microsoft.com/office/drawing/2014/main" id="{89600C6F-8FA8-5AA3-BBA5-01B1530D2B84}"/>
              </a:ext>
            </a:extLst>
          </p:cNvPr>
          <p:cNvSpPr/>
          <p:nvPr/>
        </p:nvSpPr>
        <p:spPr>
          <a:xfrm rot="5400000">
            <a:off x="9225634" y="4653634"/>
            <a:ext cx="250207" cy="3044099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4" name="Google Shape;806;gdc5622224f_0_1683">
            <a:extLst>
              <a:ext uri="{FF2B5EF4-FFF2-40B4-BE49-F238E27FC236}">
                <a16:creationId xmlns:a16="http://schemas.microsoft.com/office/drawing/2014/main" id="{804B1CFF-8F4F-17DB-EB55-F4360ABF1A99}"/>
              </a:ext>
            </a:extLst>
          </p:cNvPr>
          <p:cNvSpPr txBox="1"/>
          <p:nvPr/>
        </p:nvSpPr>
        <p:spPr>
          <a:xfrm>
            <a:off x="7973813" y="6424093"/>
            <a:ext cx="315615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</a:rPr>
              <a:t>Identificados como positivos por el modelo</a:t>
            </a:r>
            <a:endParaRPr sz="3200" dirty="0">
              <a:solidFill>
                <a:srgbClr val="1155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" name="Google Shape;813;gdc5622224f_0_1676">
            <a:extLst>
              <a:ext uri="{FF2B5EF4-FFF2-40B4-BE49-F238E27FC236}">
                <a16:creationId xmlns:a16="http://schemas.microsoft.com/office/drawing/2014/main" id="{BA38FF09-F041-6ACE-90E2-FA782848137C}"/>
              </a:ext>
            </a:extLst>
          </p:cNvPr>
          <p:cNvSpPr txBox="1"/>
          <p:nvPr/>
        </p:nvSpPr>
        <p:spPr>
          <a:xfrm>
            <a:off x="11856243" y="3653612"/>
            <a:ext cx="4695826" cy="29546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De todos los que el modelo clasificó como positivos, ¿qué proporción son realmente positivos?</a:t>
            </a:r>
            <a:endParaRPr sz="3600" b="1" dirty="0">
              <a:solidFill>
                <a:srgbClr val="CC412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21127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3" grpId="0" animBg="1"/>
      <p:bldP spid="3" grpId="1" animBg="1"/>
      <p:bldP spid="4" grpId="0"/>
      <p:bldP spid="4" grpId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13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Precisión</a:t>
            </a:r>
          </a:p>
        </p:txBody>
      </p:sp>
      <p:sp>
        <p:nvSpPr>
          <p:cNvPr id="5" name="Google Shape;691;gdc5622224f_0_1489">
            <a:extLst>
              <a:ext uri="{FF2B5EF4-FFF2-40B4-BE49-F238E27FC236}">
                <a16:creationId xmlns:a16="http://schemas.microsoft.com/office/drawing/2014/main" id="{416C4EBA-C729-7925-15C4-94DE727870DB}"/>
              </a:ext>
            </a:extLst>
          </p:cNvPr>
          <p:cNvSpPr txBox="1"/>
          <p:nvPr/>
        </p:nvSpPr>
        <p:spPr>
          <a:xfrm>
            <a:off x="1250475" y="2593812"/>
            <a:ext cx="15734818" cy="634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Precisión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es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importante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en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casos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como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programas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donde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el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gobierno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va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a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entregar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>
                <a:solidFill>
                  <a:srgbClr val="6F4EE7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100 VIVIENDAS 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familias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de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bajos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ingresos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: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endParaRPr lang="es-ES"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457200" indent="-457200"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Debemos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identificar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quién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necesita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vivienda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endParaRPr lang="es-ES"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457200" indent="-457200"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Son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sólo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100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viviendas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,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entonces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no le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vamos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a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poder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dar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a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todos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los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que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necesiten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.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endParaRPr lang="es-ES"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457200" indent="-457200"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Pero, ¡no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queremos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darle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a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alguien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que no la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necesite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!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endParaRPr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83897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14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Recall</a:t>
            </a:r>
            <a:endParaRPr lang="es-CO" sz="5400" dirty="0">
              <a:solidFill>
                <a:srgbClr val="652B90"/>
              </a:solidFill>
              <a:latin typeface="Antenna Light" panose="02000503000000020004" pitchFamily="50" charset="0"/>
              <a:ea typeface="+mn-ea"/>
              <a:cs typeface="+mn-cs"/>
            </a:endParaRPr>
          </a:p>
        </p:txBody>
      </p:sp>
      <p:pic>
        <p:nvPicPr>
          <p:cNvPr id="3" name="Google Shape;850;gd6ca21133a_0_147">
            <a:extLst>
              <a:ext uri="{FF2B5EF4-FFF2-40B4-BE49-F238E27FC236}">
                <a16:creationId xmlns:a16="http://schemas.microsoft.com/office/drawing/2014/main" id="{16F2303D-C7B0-C15C-3630-EA3DB3650D1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3474" y="4511438"/>
            <a:ext cx="6069857" cy="173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51;gd6ca21133a_0_147">
            <a:extLst>
              <a:ext uri="{FF2B5EF4-FFF2-40B4-BE49-F238E27FC236}">
                <a16:creationId xmlns:a16="http://schemas.microsoft.com/office/drawing/2014/main" id="{59DF1248-9DFC-D51C-31D5-26826296B089}"/>
              </a:ext>
            </a:extLst>
          </p:cNvPr>
          <p:cNvSpPr/>
          <p:nvPr/>
        </p:nvSpPr>
        <p:spPr>
          <a:xfrm rot="-5400000">
            <a:off x="9175731" y="2900106"/>
            <a:ext cx="263400" cy="2959263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9" name="Google Shape;852;gd6ca21133a_0_147">
            <a:extLst>
              <a:ext uri="{FF2B5EF4-FFF2-40B4-BE49-F238E27FC236}">
                <a16:creationId xmlns:a16="http://schemas.microsoft.com/office/drawing/2014/main" id="{D1471C56-777E-7A2B-AF22-8ED7BE247E53}"/>
              </a:ext>
            </a:extLst>
          </p:cNvPr>
          <p:cNvSpPr txBox="1"/>
          <p:nvPr/>
        </p:nvSpPr>
        <p:spPr>
          <a:xfrm>
            <a:off x="7353738" y="2110484"/>
            <a:ext cx="39066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dirty="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Identificados correctamente como positivos </a:t>
            </a:r>
            <a:endParaRPr sz="3600" dirty="0"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" name="Google Shape;859;gdc5622224f_0_1704">
            <a:extLst>
              <a:ext uri="{FF2B5EF4-FFF2-40B4-BE49-F238E27FC236}">
                <a16:creationId xmlns:a16="http://schemas.microsoft.com/office/drawing/2014/main" id="{B5772CDA-4811-CE6D-ED3C-91A082928929}"/>
              </a:ext>
            </a:extLst>
          </p:cNvPr>
          <p:cNvSpPr/>
          <p:nvPr/>
        </p:nvSpPr>
        <p:spPr>
          <a:xfrm rot="5400000">
            <a:off x="9151374" y="5065153"/>
            <a:ext cx="228139" cy="2957512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7" name="Google Shape;860;gdc5622224f_0_1704">
            <a:extLst>
              <a:ext uri="{FF2B5EF4-FFF2-40B4-BE49-F238E27FC236}">
                <a16:creationId xmlns:a16="http://schemas.microsoft.com/office/drawing/2014/main" id="{A3CE207E-2BFD-ED76-0AE8-00490D03CF99}"/>
              </a:ext>
            </a:extLst>
          </p:cNvPr>
          <p:cNvSpPr txBox="1"/>
          <p:nvPr/>
        </p:nvSpPr>
        <p:spPr>
          <a:xfrm>
            <a:off x="8159551" y="6858467"/>
            <a:ext cx="22989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</a:rPr>
              <a:t>Total positivos</a:t>
            </a:r>
            <a:endParaRPr sz="3200" dirty="0">
              <a:solidFill>
                <a:srgbClr val="1155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" name="Google Shape;867;gdc5622224f_0_1697">
            <a:extLst>
              <a:ext uri="{FF2B5EF4-FFF2-40B4-BE49-F238E27FC236}">
                <a16:creationId xmlns:a16="http://schemas.microsoft.com/office/drawing/2014/main" id="{69E9F937-25AA-4058-0A2F-4370162E3B5C}"/>
              </a:ext>
            </a:extLst>
          </p:cNvPr>
          <p:cNvSpPr txBox="1"/>
          <p:nvPr/>
        </p:nvSpPr>
        <p:spPr>
          <a:xfrm>
            <a:off x="11888787" y="4032975"/>
            <a:ext cx="4537162" cy="29546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De todos los realmente positivos, ¿qué proporción clasificó el modelo como positivos?</a:t>
            </a:r>
            <a:endParaRPr sz="3600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95719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5" grpId="0" animBg="1"/>
      <p:bldP spid="5" grpId="1" animBg="1"/>
      <p:bldP spid="7" grpId="0"/>
      <p:bldP spid="7" grpId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15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Recall</a:t>
            </a:r>
            <a:endParaRPr lang="es-CO" sz="5400" dirty="0">
              <a:solidFill>
                <a:srgbClr val="652B90"/>
              </a:solidFill>
              <a:latin typeface="Antenna Light" panose="02000503000000020004" pitchFamily="50" charset="0"/>
              <a:ea typeface="+mn-ea"/>
              <a:cs typeface="+mn-cs"/>
            </a:endParaRPr>
          </a:p>
        </p:txBody>
      </p:sp>
      <p:sp>
        <p:nvSpPr>
          <p:cNvPr id="5" name="Google Shape;691;gdc5622224f_0_1489">
            <a:extLst>
              <a:ext uri="{FF2B5EF4-FFF2-40B4-BE49-F238E27FC236}">
                <a16:creationId xmlns:a16="http://schemas.microsoft.com/office/drawing/2014/main" id="{416C4EBA-C729-7925-15C4-94DE727870DB}"/>
              </a:ext>
            </a:extLst>
          </p:cNvPr>
          <p:cNvSpPr txBox="1"/>
          <p:nvPr/>
        </p:nvSpPr>
        <p:spPr>
          <a:xfrm>
            <a:off x="1250475" y="2593812"/>
            <a:ext cx="14608650" cy="572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Recall es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importante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en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casos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como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>
                <a:solidFill>
                  <a:srgbClr val="6F4EE7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CORONAVIRUS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lang="en-US" sz="4000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81B32"/>
              </a:buClr>
              <a:buSzPts val="2400"/>
              <a:buFont typeface="Proxima Nova Semibold"/>
              <a:buChar char="●"/>
            </a:pP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Debemos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identificar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quién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necesita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la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vacuna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81B32"/>
              </a:buClr>
              <a:buSzPts val="2400"/>
              <a:buFont typeface="Proxima Nova Semibold"/>
              <a:buChar char="●"/>
            </a:pP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No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importa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que le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pongamos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la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vacuna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a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alguien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que no la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necesite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181B32"/>
              </a:buClr>
              <a:buSzPts val="2400"/>
              <a:buFont typeface="Proxima Nova Semibold"/>
              <a:buChar char="●"/>
            </a:pP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Pero, ¡no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ponérsela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a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alguien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que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sí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la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necesita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puede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ser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muy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40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costoso</a:t>
            </a:r>
            <a:r>
              <a:rPr lang="en-US" sz="40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!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 pitchFamily="34" charset="0"/>
              <a:buChar char="•"/>
            </a:pPr>
            <a:endParaRPr sz="4000" dirty="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069006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F318E-9AEC-928A-EAC3-CD90D8BF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36CE57-FF4D-7713-B7D8-8AEE16CEC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16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88EBAEE-8352-1919-6BD6-9C4D3A98E202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Trade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-off: precisión vs </a:t>
            </a:r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recall</a:t>
            </a:r>
            <a:endParaRPr lang="es-CO" sz="5400" dirty="0">
              <a:solidFill>
                <a:srgbClr val="652B90"/>
              </a:solidFill>
              <a:latin typeface="Antenna Light" panose="02000503000000020004" pitchFamily="50" charset="0"/>
              <a:ea typeface="+mn-ea"/>
              <a:cs typeface="+mn-cs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A707DD3-BB77-B3F2-087F-37CB3F7DD373}"/>
              </a:ext>
            </a:extLst>
          </p:cNvPr>
          <p:cNvGrpSpPr/>
          <p:nvPr/>
        </p:nvGrpSpPr>
        <p:grpSpPr>
          <a:xfrm>
            <a:off x="3722274" y="3005533"/>
            <a:ext cx="9207342" cy="5767021"/>
            <a:chOff x="3722274" y="3005533"/>
            <a:chExt cx="9207342" cy="5767021"/>
          </a:xfrm>
        </p:grpSpPr>
        <p:pic>
          <p:nvPicPr>
            <p:cNvPr id="2050" name="Picture 2" descr="Precision/Recall Tradeoff. Precision/Recall Tradeoff | by Amit Upadhyay |  Analytics Vidhya | Medium">
              <a:extLst>
                <a:ext uri="{FF2B5EF4-FFF2-40B4-BE49-F238E27FC236}">
                  <a16:creationId xmlns:a16="http://schemas.microsoft.com/office/drawing/2014/main" id="{58EC6D65-6885-E6F7-1477-54BD551111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1700" y="3005533"/>
              <a:ext cx="7924800" cy="5257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5ACD1D4E-36A5-39BB-5FCD-85E47AE7B973}"/>
                </a:ext>
              </a:extLst>
            </p:cNvPr>
            <p:cNvSpPr/>
            <p:nvPr/>
          </p:nvSpPr>
          <p:spPr>
            <a:xfrm>
              <a:off x="8836818" y="7863840"/>
              <a:ext cx="4092798" cy="566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7288359A-7D63-A15E-7A21-FD0C59697C64}"/>
                </a:ext>
              </a:extLst>
            </p:cNvPr>
            <p:cNvSpPr/>
            <p:nvPr/>
          </p:nvSpPr>
          <p:spPr>
            <a:xfrm>
              <a:off x="3722274" y="7860997"/>
              <a:ext cx="4092798" cy="566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3D001EE-AE9C-D841-7C06-31D9478C3934}"/>
                </a:ext>
              </a:extLst>
            </p:cNvPr>
            <p:cNvSpPr/>
            <p:nvPr/>
          </p:nvSpPr>
          <p:spPr>
            <a:xfrm>
              <a:off x="5915231" y="8205626"/>
              <a:ext cx="4092798" cy="5669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8B0E5BB-AAE1-311C-47D1-F248D1DE3CA2}"/>
                </a:ext>
              </a:extLst>
            </p:cNvPr>
            <p:cNvSpPr/>
            <p:nvPr/>
          </p:nvSpPr>
          <p:spPr>
            <a:xfrm>
              <a:off x="6067631" y="7900826"/>
              <a:ext cx="4092798" cy="698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169790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17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F1-score</a:t>
            </a:r>
          </a:p>
        </p:txBody>
      </p:sp>
      <p:pic>
        <p:nvPicPr>
          <p:cNvPr id="5" name="Google Shape;904;gdc5622224f_0_1628">
            <a:extLst>
              <a:ext uri="{FF2B5EF4-FFF2-40B4-BE49-F238E27FC236}">
                <a16:creationId xmlns:a16="http://schemas.microsoft.com/office/drawing/2014/main" id="{67B047A2-2164-A099-D2CE-9CBD802C97A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10962" y="4117182"/>
            <a:ext cx="9926275" cy="1671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7727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3A5B-494E-5AD5-FE50-ED490E0D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492D48-505C-71BC-C2E8-C719E22E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18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B2C61C8-3BEF-390B-9E37-CF2A0A27A27A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ROC-AUC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6C59B44-B8C8-60AB-70F0-71ED9722CED4}"/>
              </a:ext>
            </a:extLst>
          </p:cNvPr>
          <p:cNvGrpSpPr/>
          <p:nvPr/>
        </p:nvGrpSpPr>
        <p:grpSpPr>
          <a:xfrm>
            <a:off x="1429801" y="2538430"/>
            <a:ext cx="8540473" cy="6388099"/>
            <a:chOff x="2260878" y="2912269"/>
            <a:chExt cx="8540473" cy="6388099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7B5E13F-E716-A04E-FAB2-ABFE56ECE292}"/>
                </a:ext>
              </a:extLst>
            </p:cNvPr>
            <p:cNvCxnSpPr/>
            <p:nvPr/>
          </p:nvCxnSpPr>
          <p:spPr>
            <a:xfrm>
              <a:off x="2743200" y="3214688"/>
              <a:ext cx="0" cy="392906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AF9AA60-9CFF-15EF-A2BA-23055158DCF0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7167563"/>
              <a:ext cx="43053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CBE5FE-50B0-A9AD-6F57-F4F520C17294}"/>
                </a:ext>
              </a:extLst>
            </p:cNvPr>
            <p:cNvSpPr txBox="1"/>
            <p:nvPr/>
          </p:nvSpPr>
          <p:spPr>
            <a:xfrm>
              <a:off x="3300413" y="7358063"/>
              <a:ext cx="39290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O" dirty="0"/>
                <a:t>Tasa de falsos positivos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1D4462-306D-29A0-6AC1-4638541BF6A1}"/>
                </a:ext>
              </a:extLst>
            </p:cNvPr>
            <p:cNvSpPr txBox="1"/>
            <p:nvPr/>
          </p:nvSpPr>
          <p:spPr>
            <a:xfrm rot="16200000">
              <a:off x="481013" y="4692134"/>
              <a:ext cx="39290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O" dirty="0"/>
                <a:t>Tasa de verdaderos positivos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E38DE72-3C28-8A8C-E27D-FF5ED75B20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3200" y="3223678"/>
              <a:ext cx="4016096" cy="3920072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A53179-3E98-FA63-5918-2E44917C854F}"/>
                </a:ext>
              </a:extLst>
            </p:cNvPr>
            <p:cNvSpPr txBox="1"/>
            <p:nvPr/>
          </p:nvSpPr>
          <p:spPr>
            <a:xfrm>
              <a:off x="6872287" y="3030022"/>
              <a:ext cx="39290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O" dirty="0"/>
                <a:t>45°</a:t>
              </a:r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285B3528-B0EB-7120-4B7E-4CB71D5383D4}"/>
                </a:ext>
              </a:extLst>
            </p:cNvPr>
            <p:cNvSpPr/>
            <p:nvPr/>
          </p:nvSpPr>
          <p:spPr>
            <a:xfrm rot="16200000">
              <a:off x="3733929" y="2232947"/>
              <a:ext cx="6076691" cy="8058152"/>
            </a:xfrm>
            <a:prstGeom prst="arc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2533649-85C8-742C-C406-4E8AAC85C70F}"/>
                </a:ext>
              </a:extLst>
            </p:cNvPr>
            <p:cNvSpPr txBox="1"/>
            <p:nvPr/>
          </p:nvSpPr>
          <p:spPr>
            <a:xfrm>
              <a:off x="3643313" y="3399354"/>
              <a:ext cx="9286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O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ROC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C0111C1-175B-C729-CDEA-D4B81EC65058}"/>
              </a:ext>
            </a:extLst>
          </p:cNvPr>
          <p:cNvSpPr txBox="1"/>
          <p:nvPr/>
        </p:nvSpPr>
        <p:spPr>
          <a:xfrm>
            <a:off x="8307537" y="1552256"/>
            <a:ext cx="8719341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Modelos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de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clasificación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generan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una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probabilidad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de que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una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observación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sea un positive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Es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decir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,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necesito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un umbral para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convertir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probabilidades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en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0s y 1s (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generalmente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50%)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81B32"/>
              </a:solidFill>
              <a:latin typeface="Proxima Nova Semibold"/>
              <a:sym typeface="Proxima Nova Semi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Si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yo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aumento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ese umbral,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voy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a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predicir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más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81B32"/>
              </a:solidFill>
              <a:latin typeface="Proxima Nova Semibold"/>
              <a:sym typeface="Proxima Nova Semi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En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modelo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aleatorio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,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tasa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de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falsos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positivos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y de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falsos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negativos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debería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crecer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al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mismo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ritmo</a:t>
            </a:r>
            <a:endParaRPr lang="en-US" sz="2800" dirty="0">
              <a:solidFill>
                <a:srgbClr val="181B32"/>
              </a:solidFill>
              <a:latin typeface="Proxima Nova Semibold"/>
              <a:sym typeface="Proxima Nova Semi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81B32"/>
              </a:solidFill>
              <a:latin typeface="Proxima Nova Semibold"/>
              <a:sym typeface="Proxima Nova Semi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En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modelo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major al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aleatorio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, ROC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está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por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encima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de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linea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de 45°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81B32"/>
              </a:solidFill>
              <a:latin typeface="Proxima Nova Semibold"/>
              <a:sym typeface="Proxima Nova Semi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Beneficio</a:t>
            </a:r>
            <a:r>
              <a:rPr lang="en-US" sz="2800" b="1" dirty="0">
                <a:solidFill>
                  <a:srgbClr val="181B32"/>
                </a:solidFill>
                <a:latin typeface="Proxima Nova Semibold"/>
                <a:sym typeface="Proxima Nova Semibold"/>
              </a:rPr>
              <a:t>: 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es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una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métrica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que NO </a:t>
            </a:r>
            <a:r>
              <a:rPr lang="en-US" sz="2800" dirty="0" err="1">
                <a:solidFill>
                  <a:srgbClr val="181B32"/>
                </a:solidFill>
                <a:latin typeface="Proxima Nova Semibold"/>
                <a:sym typeface="Proxima Nova Semibold"/>
              </a:rPr>
              <a:t>depende</a:t>
            </a:r>
            <a:r>
              <a:rPr lang="en-US" sz="2800" dirty="0">
                <a:solidFill>
                  <a:srgbClr val="181B32"/>
                </a:solidFill>
                <a:latin typeface="Proxima Nova Semibold"/>
                <a:sym typeface="Proxima Nova Semibold"/>
              </a:rPr>
              <a:t> del umbral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FB8A60-C3E9-4749-9514-D4693BD3B1F8}"/>
              </a:ext>
            </a:extLst>
          </p:cNvPr>
          <p:cNvSpPr txBox="1"/>
          <p:nvPr/>
        </p:nvSpPr>
        <p:spPr>
          <a:xfrm>
            <a:off x="3962354" y="4803482"/>
            <a:ext cx="2033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CO" dirty="0">
                <a:solidFill>
                  <a:srgbClr val="FF0000"/>
                </a:solidFill>
              </a:rPr>
              <a:t>odelo aleatorio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FA75FD-3F3B-392A-E6E3-098B8D8C7DD6}"/>
              </a:ext>
            </a:extLst>
          </p:cNvPr>
          <p:cNvSpPr txBox="1"/>
          <p:nvPr/>
        </p:nvSpPr>
        <p:spPr>
          <a:xfrm>
            <a:off x="1434382" y="8284931"/>
            <a:ext cx="5980832" cy="9541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O" sz="2800" dirty="0"/>
              <a:t>ROC-AUC modelo aleatorio: 50%</a:t>
            </a:r>
          </a:p>
          <a:p>
            <a:r>
              <a:rPr lang="en-CO" sz="2800" dirty="0"/>
              <a:t>ROC-AUC modelo perfecto: 100%</a:t>
            </a:r>
          </a:p>
        </p:txBody>
      </p:sp>
    </p:spTree>
    <p:extLst>
      <p:ext uri="{BB962C8B-B14F-4D97-AF65-F5344CB8AC3E}">
        <p14:creationId xmlns:p14="http://schemas.microsoft.com/office/powerpoint/2010/main" val="1457499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C2950-66C7-A0A5-F162-37F574136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71CC70-3600-9B72-C835-34814852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19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427FAE6-34ED-1FF5-1DAD-19DB51B114CF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ROC-AUC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91CAB0A-AFDC-A623-33EE-7CFEDE6C532F}"/>
              </a:ext>
            </a:extLst>
          </p:cNvPr>
          <p:cNvGrpSpPr/>
          <p:nvPr/>
        </p:nvGrpSpPr>
        <p:grpSpPr>
          <a:xfrm>
            <a:off x="1844139" y="3009917"/>
            <a:ext cx="5899687" cy="4815126"/>
            <a:chOff x="1429801" y="2538430"/>
            <a:chExt cx="5899687" cy="481512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AD77EB9-DD24-A438-C4FD-6E648E96717F}"/>
                </a:ext>
              </a:extLst>
            </p:cNvPr>
            <p:cNvGrpSpPr/>
            <p:nvPr/>
          </p:nvGrpSpPr>
          <p:grpSpPr>
            <a:xfrm>
              <a:off x="1429801" y="2538430"/>
              <a:ext cx="5899687" cy="4815126"/>
              <a:chOff x="2260878" y="2912269"/>
              <a:chExt cx="6928387" cy="4815126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B513BD9-C83A-11C6-08BD-66617A8FD94E}"/>
                  </a:ext>
                </a:extLst>
              </p:cNvPr>
              <p:cNvCxnSpPr/>
              <p:nvPr/>
            </p:nvCxnSpPr>
            <p:spPr>
              <a:xfrm>
                <a:off x="2743200" y="3214688"/>
                <a:ext cx="0" cy="39290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D8CA7E4A-0ACC-EA7E-E771-6383625BFB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3200" y="7167563"/>
                <a:ext cx="644606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3E79D5-F150-6549-8645-85BAAE85C6F1}"/>
                  </a:ext>
                </a:extLst>
              </p:cNvPr>
              <p:cNvSpPr txBox="1"/>
              <p:nvPr/>
            </p:nvSpPr>
            <p:spPr>
              <a:xfrm>
                <a:off x="4360090" y="7358063"/>
                <a:ext cx="39231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O" dirty="0"/>
                  <a:t>Probabilidad predicha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6450F6-1A51-69C2-F20A-A8C8F3C9A578}"/>
                  </a:ext>
                </a:extLst>
              </p:cNvPr>
              <p:cNvSpPr txBox="1"/>
              <p:nvPr/>
            </p:nvSpPr>
            <p:spPr>
              <a:xfrm rot="16200000">
                <a:off x="481013" y="4692134"/>
                <a:ext cx="39290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O" dirty="0"/>
                  <a:t>Frecuencia</a:t>
                </a:r>
              </a:p>
            </p:txBody>
          </p:sp>
        </p:grp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D134D4F-7201-0924-EC1D-6082645635BD}"/>
                </a:ext>
              </a:extLst>
            </p:cNvPr>
            <p:cNvSpPr/>
            <p:nvPr/>
          </p:nvSpPr>
          <p:spPr>
            <a:xfrm>
              <a:off x="1943100" y="3629025"/>
              <a:ext cx="3529013" cy="3171825"/>
            </a:xfrm>
            <a:custGeom>
              <a:avLst/>
              <a:gdLst>
                <a:gd name="connsiteX0" fmla="*/ 0 w 3529013"/>
                <a:gd name="connsiteY0" fmla="*/ 3171825 h 3171825"/>
                <a:gd name="connsiteX1" fmla="*/ 1785938 w 3529013"/>
                <a:gd name="connsiteY1" fmla="*/ 0 h 3171825"/>
                <a:gd name="connsiteX2" fmla="*/ 3529013 w 3529013"/>
                <a:gd name="connsiteY2" fmla="*/ 3171825 h 3171825"/>
                <a:gd name="connsiteX3" fmla="*/ 3529013 w 3529013"/>
                <a:gd name="connsiteY3" fmla="*/ 3171825 h 317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9013" h="3171825">
                  <a:moveTo>
                    <a:pt x="0" y="3171825"/>
                  </a:moveTo>
                  <a:cubicBezTo>
                    <a:pt x="598884" y="1585912"/>
                    <a:pt x="1197769" y="0"/>
                    <a:pt x="1785938" y="0"/>
                  </a:cubicBezTo>
                  <a:cubicBezTo>
                    <a:pt x="2374107" y="0"/>
                    <a:pt x="3529013" y="3171825"/>
                    <a:pt x="3529013" y="3171825"/>
                  </a:cubicBezTo>
                  <a:lnTo>
                    <a:pt x="3529013" y="3171825"/>
                  </a:lnTo>
                </a:path>
              </a:pathLst>
            </a:cu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DEACC8E-CFBF-649C-A426-7935AE34C626}"/>
                </a:ext>
              </a:extLst>
            </p:cNvPr>
            <p:cNvSpPr/>
            <p:nvPr/>
          </p:nvSpPr>
          <p:spPr>
            <a:xfrm>
              <a:off x="3529013" y="3621899"/>
              <a:ext cx="3529013" cy="3171825"/>
            </a:xfrm>
            <a:custGeom>
              <a:avLst/>
              <a:gdLst>
                <a:gd name="connsiteX0" fmla="*/ 0 w 3529013"/>
                <a:gd name="connsiteY0" fmla="*/ 3171825 h 3171825"/>
                <a:gd name="connsiteX1" fmla="*/ 1785938 w 3529013"/>
                <a:gd name="connsiteY1" fmla="*/ 0 h 3171825"/>
                <a:gd name="connsiteX2" fmla="*/ 3529013 w 3529013"/>
                <a:gd name="connsiteY2" fmla="*/ 3171825 h 3171825"/>
                <a:gd name="connsiteX3" fmla="*/ 3529013 w 3529013"/>
                <a:gd name="connsiteY3" fmla="*/ 3171825 h 317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9013" h="3171825">
                  <a:moveTo>
                    <a:pt x="0" y="3171825"/>
                  </a:moveTo>
                  <a:cubicBezTo>
                    <a:pt x="598884" y="1585912"/>
                    <a:pt x="1197769" y="0"/>
                    <a:pt x="1785938" y="0"/>
                  </a:cubicBezTo>
                  <a:cubicBezTo>
                    <a:pt x="2374107" y="0"/>
                    <a:pt x="3529013" y="3171825"/>
                    <a:pt x="3529013" y="3171825"/>
                  </a:cubicBezTo>
                  <a:lnTo>
                    <a:pt x="3529013" y="3171825"/>
                  </a:ln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51C1775-E930-DBBB-8F1B-6B95CABC5CEA}"/>
                </a:ext>
              </a:extLst>
            </p:cNvPr>
            <p:cNvSpPr txBox="1"/>
            <p:nvPr/>
          </p:nvSpPr>
          <p:spPr>
            <a:xfrm>
              <a:off x="3073133" y="3157318"/>
              <a:ext cx="1268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O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0s reales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572B71-C085-4A9C-7F23-130C8D323151}"/>
                </a:ext>
              </a:extLst>
            </p:cNvPr>
            <p:cNvSpPr txBox="1"/>
            <p:nvPr/>
          </p:nvSpPr>
          <p:spPr>
            <a:xfrm>
              <a:off x="4659046" y="3157318"/>
              <a:ext cx="1268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O" dirty="0">
                  <a:solidFill>
                    <a:srgbClr val="FF0000"/>
                  </a:solidFill>
                </a:rPr>
                <a:t>1s reales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0198847-2669-E7E4-6065-336DE27552A6}"/>
              </a:ext>
            </a:extLst>
          </p:cNvPr>
          <p:cNvGrpSpPr/>
          <p:nvPr/>
        </p:nvGrpSpPr>
        <p:grpSpPr>
          <a:xfrm>
            <a:off x="9604374" y="3009917"/>
            <a:ext cx="5899687" cy="4815126"/>
            <a:chOff x="1429801" y="2538430"/>
            <a:chExt cx="5899687" cy="4815126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03BA9EA-2174-0E8E-0B2C-6579BC33A13E}"/>
                </a:ext>
              </a:extLst>
            </p:cNvPr>
            <p:cNvGrpSpPr/>
            <p:nvPr/>
          </p:nvGrpSpPr>
          <p:grpSpPr>
            <a:xfrm>
              <a:off x="1429801" y="2538430"/>
              <a:ext cx="5899687" cy="4815126"/>
              <a:chOff x="2260878" y="2912269"/>
              <a:chExt cx="6928387" cy="4815126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57961D9-24CD-A66C-6C25-83D29A7F123D}"/>
                  </a:ext>
                </a:extLst>
              </p:cNvPr>
              <p:cNvCxnSpPr/>
              <p:nvPr/>
            </p:nvCxnSpPr>
            <p:spPr>
              <a:xfrm>
                <a:off x="2743200" y="3214688"/>
                <a:ext cx="0" cy="392906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8527FA-6067-E72D-5A35-802ACAF8FE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3200" y="7167563"/>
                <a:ext cx="644606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E777B8B-D1D1-3674-97F3-3BBFFD0AA642}"/>
                  </a:ext>
                </a:extLst>
              </p:cNvPr>
              <p:cNvSpPr txBox="1"/>
              <p:nvPr/>
            </p:nvSpPr>
            <p:spPr>
              <a:xfrm>
                <a:off x="4360090" y="7358063"/>
                <a:ext cx="39231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O" dirty="0"/>
                  <a:t>Probabilidad predicha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FA6003-4041-22F2-5510-CFB273426BA5}"/>
                  </a:ext>
                </a:extLst>
              </p:cNvPr>
              <p:cNvSpPr txBox="1"/>
              <p:nvPr/>
            </p:nvSpPr>
            <p:spPr>
              <a:xfrm rot="16200000">
                <a:off x="481013" y="4692134"/>
                <a:ext cx="39290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O" dirty="0"/>
                  <a:t>Frecuencia</a:t>
                </a:r>
              </a:p>
            </p:txBody>
          </p:sp>
        </p:grp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57F43B0E-E133-E48B-CAA7-106BDA525927}"/>
                </a:ext>
              </a:extLst>
            </p:cNvPr>
            <p:cNvSpPr/>
            <p:nvPr/>
          </p:nvSpPr>
          <p:spPr>
            <a:xfrm>
              <a:off x="2894539" y="3693335"/>
              <a:ext cx="3529013" cy="3171825"/>
            </a:xfrm>
            <a:custGeom>
              <a:avLst/>
              <a:gdLst>
                <a:gd name="connsiteX0" fmla="*/ 0 w 3529013"/>
                <a:gd name="connsiteY0" fmla="*/ 3171825 h 3171825"/>
                <a:gd name="connsiteX1" fmla="*/ 1785938 w 3529013"/>
                <a:gd name="connsiteY1" fmla="*/ 0 h 3171825"/>
                <a:gd name="connsiteX2" fmla="*/ 3529013 w 3529013"/>
                <a:gd name="connsiteY2" fmla="*/ 3171825 h 3171825"/>
                <a:gd name="connsiteX3" fmla="*/ 3529013 w 3529013"/>
                <a:gd name="connsiteY3" fmla="*/ 3171825 h 317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9013" h="3171825">
                  <a:moveTo>
                    <a:pt x="0" y="3171825"/>
                  </a:moveTo>
                  <a:cubicBezTo>
                    <a:pt x="598884" y="1585912"/>
                    <a:pt x="1197769" y="0"/>
                    <a:pt x="1785938" y="0"/>
                  </a:cubicBezTo>
                  <a:cubicBezTo>
                    <a:pt x="2374107" y="0"/>
                    <a:pt x="3529013" y="3171825"/>
                    <a:pt x="3529013" y="3171825"/>
                  </a:cubicBezTo>
                  <a:lnTo>
                    <a:pt x="3529013" y="3171825"/>
                  </a:lnTo>
                </a:path>
              </a:pathLst>
            </a:cu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4DA6E9B-65FA-B83E-7B51-90BE05ED2B95}"/>
                </a:ext>
              </a:extLst>
            </p:cNvPr>
            <p:cNvSpPr/>
            <p:nvPr/>
          </p:nvSpPr>
          <p:spPr>
            <a:xfrm>
              <a:off x="2894539" y="3653450"/>
              <a:ext cx="3529013" cy="3171825"/>
            </a:xfrm>
            <a:custGeom>
              <a:avLst/>
              <a:gdLst>
                <a:gd name="connsiteX0" fmla="*/ 0 w 3529013"/>
                <a:gd name="connsiteY0" fmla="*/ 3171825 h 3171825"/>
                <a:gd name="connsiteX1" fmla="*/ 1785938 w 3529013"/>
                <a:gd name="connsiteY1" fmla="*/ 0 h 3171825"/>
                <a:gd name="connsiteX2" fmla="*/ 3529013 w 3529013"/>
                <a:gd name="connsiteY2" fmla="*/ 3171825 h 3171825"/>
                <a:gd name="connsiteX3" fmla="*/ 3529013 w 3529013"/>
                <a:gd name="connsiteY3" fmla="*/ 3171825 h 317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9013" h="3171825">
                  <a:moveTo>
                    <a:pt x="0" y="3171825"/>
                  </a:moveTo>
                  <a:cubicBezTo>
                    <a:pt x="598884" y="1585912"/>
                    <a:pt x="1197769" y="0"/>
                    <a:pt x="1785938" y="0"/>
                  </a:cubicBezTo>
                  <a:cubicBezTo>
                    <a:pt x="2374107" y="0"/>
                    <a:pt x="3529013" y="3171825"/>
                    <a:pt x="3529013" y="3171825"/>
                  </a:cubicBezTo>
                  <a:lnTo>
                    <a:pt x="3529013" y="3171825"/>
                  </a:ln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871DCE6-5A96-1E0A-A719-CD526C0075FD}"/>
                </a:ext>
              </a:extLst>
            </p:cNvPr>
            <p:cNvSpPr txBox="1"/>
            <p:nvPr/>
          </p:nvSpPr>
          <p:spPr>
            <a:xfrm>
              <a:off x="2623077" y="4133628"/>
              <a:ext cx="1268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O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0s reales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9D8AD8-941C-B929-A76C-CBF34357301C}"/>
                </a:ext>
              </a:extLst>
            </p:cNvPr>
            <p:cNvSpPr txBox="1"/>
            <p:nvPr/>
          </p:nvSpPr>
          <p:spPr>
            <a:xfrm>
              <a:off x="2559836" y="4477243"/>
              <a:ext cx="12689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O" dirty="0">
                  <a:solidFill>
                    <a:srgbClr val="FF0000"/>
                  </a:solidFill>
                </a:rPr>
                <a:t>1s reales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2FE3049-C365-0AAE-A34B-0F5C62654C3D}"/>
              </a:ext>
            </a:extLst>
          </p:cNvPr>
          <p:cNvSpPr txBox="1"/>
          <p:nvPr/>
        </p:nvSpPr>
        <p:spPr>
          <a:xfrm>
            <a:off x="11184187" y="2696519"/>
            <a:ext cx="3993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800" dirty="0"/>
              <a:t>Modelo aleatorio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D8B37B-8EC0-6ACC-7B9F-5FF5E986EAB6}"/>
              </a:ext>
            </a:extLst>
          </p:cNvPr>
          <p:cNvSpPr txBox="1"/>
          <p:nvPr/>
        </p:nvSpPr>
        <p:spPr>
          <a:xfrm>
            <a:off x="2710029" y="2696519"/>
            <a:ext cx="5033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2800" dirty="0"/>
              <a:t>Modelo mejor que aleatorio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4B2F0A5-A56C-226E-1801-048E89ED0B42}"/>
              </a:ext>
            </a:extLst>
          </p:cNvPr>
          <p:cNvCxnSpPr/>
          <p:nvPr/>
        </p:nvCxnSpPr>
        <p:spPr>
          <a:xfrm>
            <a:off x="5074705" y="3628805"/>
            <a:ext cx="0" cy="3829049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A3C1F95-B5DD-CFB8-08AD-E4A36AE945F7}"/>
              </a:ext>
            </a:extLst>
          </p:cNvPr>
          <p:cNvSpPr txBox="1"/>
          <p:nvPr/>
        </p:nvSpPr>
        <p:spPr>
          <a:xfrm>
            <a:off x="4526098" y="6740857"/>
            <a:ext cx="1268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O" dirty="0">
                <a:solidFill>
                  <a:srgbClr val="00B050"/>
                </a:solidFill>
              </a:rPr>
              <a:t>Umbral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186BACE-396C-8845-BC2C-F99545F05EA6}"/>
              </a:ext>
            </a:extLst>
          </p:cNvPr>
          <p:cNvCxnSpPr/>
          <p:nvPr/>
        </p:nvCxnSpPr>
        <p:spPr>
          <a:xfrm>
            <a:off x="12609519" y="3436162"/>
            <a:ext cx="0" cy="3829049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204B0C7-8CE4-A623-D1C9-6A8DF727AD80}"/>
              </a:ext>
            </a:extLst>
          </p:cNvPr>
          <p:cNvSpPr txBox="1"/>
          <p:nvPr/>
        </p:nvSpPr>
        <p:spPr>
          <a:xfrm>
            <a:off x="12220716" y="6726989"/>
            <a:ext cx="1268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O" dirty="0">
                <a:solidFill>
                  <a:srgbClr val="00B050"/>
                </a:solidFill>
              </a:rPr>
              <a:t>Umbral</a:t>
            </a:r>
          </a:p>
        </p:txBody>
      </p:sp>
      <p:cxnSp>
        <p:nvCxnSpPr>
          <p:cNvPr id="4" name="Straight Connector 45">
            <a:extLst>
              <a:ext uri="{FF2B5EF4-FFF2-40B4-BE49-F238E27FC236}">
                <a16:creationId xmlns:a16="http://schemas.microsoft.com/office/drawing/2014/main" id="{2D35B590-3CB5-DB7E-C154-45D4C68348FE}"/>
              </a:ext>
            </a:extLst>
          </p:cNvPr>
          <p:cNvCxnSpPr/>
          <p:nvPr/>
        </p:nvCxnSpPr>
        <p:spPr>
          <a:xfrm>
            <a:off x="12003354" y="3507598"/>
            <a:ext cx="0" cy="3829049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3">
            <a:extLst>
              <a:ext uri="{FF2B5EF4-FFF2-40B4-BE49-F238E27FC236}">
                <a16:creationId xmlns:a16="http://schemas.microsoft.com/office/drawing/2014/main" id="{E44873C8-BDCB-96AA-A086-0925C69D226E}"/>
              </a:ext>
            </a:extLst>
          </p:cNvPr>
          <p:cNvCxnSpPr/>
          <p:nvPr/>
        </p:nvCxnSpPr>
        <p:spPr>
          <a:xfrm>
            <a:off x="5655651" y="3403537"/>
            <a:ext cx="0" cy="3829049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036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20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Root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Mean </a:t>
            </a:r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Squared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Error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813A5D5-BE64-264C-6C9D-44C23DFAB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37" y="2357438"/>
            <a:ext cx="8843960" cy="589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FDC5CE-AD53-41BC-EF87-D1D00AF6DE7D}"/>
              </a:ext>
            </a:extLst>
          </p:cNvPr>
          <p:cNvSpPr txBox="1"/>
          <p:nvPr/>
        </p:nvSpPr>
        <p:spPr>
          <a:xfrm>
            <a:off x="12908756" y="3999637"/>
            <a:ext cx="33932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36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LÍNEA DE 45°</a:t>
            </a:r>
            <a:endParaRPr lang="en-US" sz="3600" b="0" dirty="0">
              <a:effectLst/>
            </a:endParaRPr>
          </a:p>
          <a:p>
            <a:br>
              <a:rPr lang="en-US" sz="3600" dirty="0"/>
            </a:br>
            <a:endParaRPr lang="en-CO" sz="3600" dirty="0"/>
          </a:p>
        </p:txBody>
      </p:sp>
      <p:cxnSp>
        <p:nvCxnSpPr>
          <p:cNvPr id="8" name="Google Shape;765;gdc5622224f_0_1570">
            <a:extLst>
              <a:ext uri="{FF2B5EF4-FFF2-40B4-BE49-F238E27FC236}">
                <a16:creationId xmlns:a16="http://schemas.microsoft.com/office/drawing/2014/main" id="{F81323E9-96FA-77D6-108E-A665C05F6320}"/>
              </a:ext>
            </a:extLst>
          </p:cNvPr>
          <p:cNvCxnSpPr>
            <a:cxnSpLocks/>
          </p:cNvCxnSpPr>
          <p:nvPr/>
        </p:nvCxnSpPr>
        <p:spPr>
          <a:xfrm flipH="1" flipV="1">
            <a:off x="11532429" y="3545153"/>
            <a:ext cx="1256468" cy="683947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97465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21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Root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Mean </a:t>
            </a:r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Squared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Error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813A5D5-BE64-264C-6C9D-44C23DFAB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37" y="2357438"/>
            <a:ext cx="8843960" cy="589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0AEC010-C731-35B9-54F0-F5D5084C2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37" y="2357437"/>
            <a:ext cx="8843960" cy="589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644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22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Root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Mean </a:t>
            </a:r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Squared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Error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813A5D5-BE64-264C-6C9D-44C23DFAB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37" y="2357438"/>
            <a:ext cx="8843960" cy="589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0AEC010-C731-35B9-54F0-F5D5084C2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37" y="2357437"/>
            <a:ext cx="8843960" cy="589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E3541FA-A588-491E-554E-3F31D45D6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37" y="2357437"/>
            <a:ext cx="8843960" cy="589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230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23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Root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Mean </a:t>
            </a:r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Squared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Error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813A5D5-BE64-264C-6C9D-44C23DFAB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37" y="2357438"/>
            <a:ext cx="8843960" cy="589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0AEC010-C731-35B9-54F0-F5D5084C2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37" y="2357437"/>
            <a:ext cx="8843960" cy="589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E3541FA-A588-491E-554E-3F31D45D6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37" y="2357437"/>
            <a:ext cx="8843960" cy="589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5A5100D2-F7C4-4A91-A6F7-BBD5A3F53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37" y="2357436"/>
            <a:ext cx="8843960" cy="589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180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24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Root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Mean </a:t>
            </a:r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Squared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Error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A2664F5-69E2-94B2-2F02-6B8CF17B3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825" y="2228053"/>
            <a:ext cx="8972550" cy="598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Google Shape;765;gdc5622224f_0_1570">
            <a:extLst>
              <a:ext uri="{FF2B5EF4-FFF2-40B4-BE49-F238E27FC236}">
                <a16:creationId xmlns:a16="http://schemas.microsoft.com/office/drawing/2014/main" id="{7AA3E339-140A-0A92-5DFC-3ECC60BDA13D}"/>
              </a:ext>
            </a:extLst>
          </p:cNvPr>
          <p:cNvCxnSpPr>
            <a:cxnSpLocks/>
          </p:cNvCxnSpPr>
          <p:nvPr/>
        </p:nvCxnSpPr>
        <p:spPr>
          <a:xfrm>
            <a:off x="8788397" y="3843338"/>
            <a:ext cx="0" cy="124301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" name="Google Shape;765;gdc5622224f_0_1570">
            <a:extLst>
              <a:ext uri="{FF2B5EF4-FFF2-40B4-BE49-F238E27FC236}">
                <a16:creationId xmlns:a16="http://schemas.microsoft.com/office/drawing/2014/main" id="{CB995F51-4D8E-72FB-5BF5-C46F5A5EC890}"/>
              </a:ext>
            </a:extLst>
          </p:cNvPr>
          <p:cNvCxnSpPr>
            <a:cxnSpLocks/>
          </p:cNvCxnSpPr>
          <p:nvPr/>
        </p:nvCxnSpPr>
        <p:spPr>
          <a:xfrm flipV="1">
            <a:off x="9455147" y="4876800"/>
            <a:ext cx="0" cy="2138363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" name="Google Shape;765;gdc5622224f_0_1570">
            <a:extLst>
              <a:ext uri="{FF2B5EF4-FFF2-40B4-BE49-F238E27FC236}">
                <a16:creationId xmlns:a16="http://schemas.microsoft.com/office/drawing/2014/main" id="{AD021464-4E5B-9B3F-5F88-357C559D7CE4}"/>
              </a:ext>
            </a:extLst>
          </p:cNvPr>
          <p:cNvCxnSpPr>
            <a:cxnSpLocks/>
          </p:cNvCxnSpPr>
          <p:nvPr/>
        </p:nvCxnSpPr>
        <p:spPr>
          <a:xfrm>
            <a:off x="7354884" y="5310188"/>
            <a:ext cx="0" cy="70485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" name="Google Shape;765;gdc5622224f_0_1570">
            <a:extLst>
              <a:ext uri="{FF2B5EF4-FFF2-40B4-BE49-F238E27FC236}">
                <a16:creationId xmlns:a16="http://schemas.microsoft.com/office/drawing/2014/main" id="{A42B0F73-9741-A948-763B-513B5193E2D2}"/>
              </a:ext>
            </a:extLst>
          </p:cNvPr>
          <p:cNvCxnSpPr>
            <a:cxnSpLocks/>
          </p:cNvCxnSpPr>
          <p:nvPr/>
        </p:nvCxnSpPr>
        <p:spPr>
          <a:xfrm>
            <a:off x="6464296" y="5662613"/>
            <a:ext cx="0" cy="909637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27437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25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Root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Mean </a:t>
            </a:r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Squared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Error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0AD60D5-4C49-5696-4528-D9A18E309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300" y="3505200"/>
            <a:ext cx="77216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379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26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Mean Absolute Error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EBA0461D-68B6-8E60-C274-C9C2AE8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050" y="3702050"/>
            <a:ext cx="6388100" cy="23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374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DAF5B-0DE2-3EDF-9C10-B73676DF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27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8F6C30-381A-1470-BCFB-971C65D85209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Mean Absolute </a:t>
            </a:r>
            <a:r>
              <a:rPr lang="es-CO" sz="5400" dirty="0" err="1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Percentage</a:t>
            </a:r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 Error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6A7E2330-0764-0E82-36D8-2DB4A62C8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0" y="3867150"/>
            <a:ext cx="65913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592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CFEA7-07F2-0559-2EED-86E14B6E1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72B844-A9A3-1DCA-E5FA-5B591063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28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863DCC0-DADE-BB8A-22DB-7438C3F0A121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</a:rPr>
              <a:t>El R2 en modelos lineales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1684796-2DE2-756E-900D-2298453E9F6D}"/>
                  </a:ext>
                </a:extLst>
              </p:cNvPr>
              <p:cNvSpPr txBox="1"/>
              <p:nvPr/>
            </p:nvSpPr>
            <p:spPr>
              <a:xfrm>
                <a:off x="2288366" y="2537598"/>
                <a:ext cx="130969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s-419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4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sz="40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s-419" sz="4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sz="4000" dirty="0"/>
                  <a:t> =</a:t>
                </a:r>
                <a:r>
                  <a:rPr lang="es-419" sz="4000" dirty="0"/>
                  <a:t> </a:t>
                </a:r>
                <a14:m>
                  <m:oMath xmlns:m="http://schemas.openxmlformats.org/officeDocument/2006/math">
                    <m:r>
                      <a:rPr lang="es-419" sz="4000" i="1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s-419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s-419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sz="4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419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sz="4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419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sz="4000" i="1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s-419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4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419" sz="4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sz="4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s-419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sz="4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s-419" sz="4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sz="4000" dirty="0"/>
                  <a:t>+</a:t>
                </a:r>
                <a:r>
                  <a:rPr lang="es-419" sz="4000" dirty="0"/>
                  <a:t> </a:t>
                </a:r>
                <a14:m>
                  <m:oMath xmlns:m="http://schemas.openxmlformats.org/officeDocument/2006/math">
                    <m:r>
                      <a:rPr lang="es-419" sz="4000" i="1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s-419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sz="40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s-419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4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sz="4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s-CO" sz="40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1684796-2DE2-756E-900D-2298453E9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366" y="2537598"/>
                <a:ext cx="13096904" cy="615553"/>
              </a:xfrm>
              <a:prstGeom prst="rect">
                <a:avLst/>
              </a:prstGeom>
              <a:blipFill>
                <a:blip r:embed="rId2"/>
                <a:stretch>
                  <a:fillRect l="-1841" t="-24000" b="-48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859;gdc5622224f_0_1704">
            <a:extLst>
              <a:ext uri="{FF2B5EF4-FFF2-40B4-BE49-F238E27FC236}">
                <a16:creationId xmlns:a16="http://schemas.microsoft.com/office/drawing/2014/main" id="{2CC86C80-2440-6510-84DD-C8DCD635139A}"/>
              </a:ext>
            </a:extLst>
          </p:cNvPr>
          <p:cNvSpPr/>
          <p:nvPr/>
        </p:nvSpPr>
        <p:spPr>
          <a:xfrm rot="5400000">
            <a:off x="3266537" y="2256968"/>
            <a:ext cx="203804" cy="2440366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8" name="Google Shape;860;gdc5622224f_0_1704">
            <a:extLst>
              <a:ext uri="{FF2B5EF4-FFF2-40B4-BE49-F238E27FC236}">
                <a16:creationId xmlns:a16="http://schemas.microsoft.com/office/drawing/2014/main" id="{974A47A6-A078-074E-F2A7-4219C18FE97E}"/>
              </a:ext>
            </a:extLst>
          </p:cNvPr>
          <p:cNvSpPr txBox="1"/>
          <p:nvPr/>
        </p:nvSpPr>
        <p:spPr>
          <a:xfrm>
            <a:off x="2077874" y="3825483"/>
            <a:ext cx="2632767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</a:rPr>
              <a:t>Varianza total de los datos</a:t>
            </a:r>
            <a:endParaRPr sz="3200" dirty="0">
              <a:solidFill>
                <a:srgbClr val="1155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859;gdc5622224f_0_1704">
            <a:extLst>
              <a:ext uri="{FF2B5EF4-FFF2-40B4-BE49-F238E27FC236}">
                <a16:creationId xmlns:a16="http://schemas.microsoft.com/office/drawing/2014/main" id="{8382A796-7538-AD7E-6736-FBF9B6BB2BEA}"/>
              </a:ext>
            </a:extLst>
          </p:cNvPr>
          <p:cNvSpPr/>
          <p:nvPr/>
        </p:nvSpPr>
        <p:spPr>
          <a:xfrm rot="5400000">
            <a:off x="6145512" y="2235360"/>
            <a:ext cx="203804" cy="2440366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11" name="Google Shape;860;gdc5622224f_0_1704">
            <a:extLst>
              <a:ext uri="{FF2B5EF4-FFF2-40B4-BE49-F238E27FC236}">
                <a16:creationId xmlns:a16="http://schemas.microsoft.com/office/drawing/2014/main" id="{4014672B-CB57-FD4A-2321-8D35AA52CFDB}"/>
              </a:ext>
            </a:extLst>
          </p:cNvPr>
          <p:cNvSpPr txBox="1"/>
          <p:nvPr/>
        </p:nvSpPr>
        <p:spPr>
          <a:xfrm>
            <a:off x="4956849" y="3803875"/>
            <a:ext cx="2632767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</a:rPr>
              <a:t>Varianza total del modelo</a:t>
            </a:r>
            <a:endParaRPr sz="3200" dirty="0">
              <a:solidFill>
                <a:srgbClr val="1155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Google Shape;859;gdc5622224f_0_1704">
            <a:extLst>
              <a:ext uri="{FF2B5EF4-FFF2-40B4-BE49-F238E27FC236}">
                <a16:creationId xmlns:a16="http://schemas.microsoft.com/office/drawing/2014/main" id="{908B928A-C813-236F-CFD9-3065B38658DF}"/>
              </a:ext>
            </a:extLst>
          </p:cNvPr>
          <p:cNvSpPr/>
          <p:nvPr/>
        </p:nvSpPr>
        <p:spPr>
          <a:xfrm rot="5400000">
            <a:off x="9094869" y="2235360"/>
            <a:ext cx="203804" cy="2440366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13" name="Google Shape;860;gdc5622224f_0_1704">
            <a:extLst>
              <a:ext uri="{FF2B5EF4-FFF2-40B4-BE49-F238E27FC236}">
                <a16:creationId xmlns:a16="http://schemas.microsoft.com/office/drawing/2014/main" id="{80594561-9FB3-B42F-F79D-6344FB4F1C3A}"/>
              </a:ext>
            </a:extLst>
          </p:cNvPr>
          <p:cNvSpPr txBox="1"/>
          <p:nvPr/>
        </p:nvSpPr>
        <p:spPr>
          <a:xfrm>
            <a:off x="7906206" y="3803875"/>
            <a:ext cx="2632767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</a:rPr>
              <a:t>Suma de errores al cuadrado</a:t>
            </a:r>
            <a:endParaRPr sz="3200" dirty="0">
              <a:solidFill>
                <a:srgbClr val="1155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95D39AE-2B4E-449C-C432-630F4004DA68}"/>
              </a:ext>
            </a:extLst>
          </p:cNvPr>
          <p:cNvCxnSpPr/>
          <p:nvPr/>
        </p:nvCxnSpPr>
        <p:spPr>
          <a:xfrm flipV="1">
            <a:off x="11488189" y="2363031"/>
            <a:ext cx="3025833" cy="1012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860;gdc5622224f_0_1704">
            <a:extLst>
              <a:ext uri="{FF2B5EF4-FFF2-40B4-BE49-F238E27FC236}">
                <a16:creationId xmlns:a16="http://schemas.microsoft.com/office/drawing/2014/main" id="{AFEE3AB2-6CCE-A273-AF84-9139A450F773}"/>
              </a:ext>
            </a:extLst>
          </p:cNvPr>
          <p:cNvSpPr txBox="1"/>
          <p:nvPr/>
        </p:nvSpPr>
        <p:spPr>
          <a:xfrm>
            <a:off x="13523221" y="1779168"/>
            <a:ext cx="2632767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=0</a:t>
            </a:r>
            <a:endParaRPr sz="3200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" name="Google Shape;859;gdc5622224f_0_1704">
            <a:extLst>
              <a:ext uri="{FF2B5EF4-FFF2-40B4-BE49-F238E27FC236}">
                <a16:creationId xmlns:a16="http://schemas.microsoft.com/office/drawing/2014/main" id="{0A4A7033-DFCE-776C-A511-5907DA443175}"/>
              </a:ext>
            </a:extLst>
          </p:cNvPr>
          <p:cNvSpPr/>
          <p:nvPr/>
        </p:nvSpPr>
        <p:spPr>
          <a:xfrm rot="5400000">
            <a:off x="12873769" y="1427424"/>
            <a:ext cx="174568" cy="4070215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19" name="Google Shape;860;gdc5622224f_0_1704">
            <a:extLst>
              <a:ext uri="{FF2B5EF4-FFF2-40B4-BE49-F238E27FC236}">
                <a16:creationId xmlns:a16="http://schemas.microsoft.com/office/drawing/2014/main" id="{CD867182-A4DD-8FC8-7CDD-B7F86847CB64}"/>
              </a:ext>
            </a:extLst>
          </p:cNvPr>
          <p:cNvSpPr txBox="1"/>
          <p:nvPr/>
        </p:nvSpPr>
        <p:spPr>
          <a:xfrm>
            <a:off x="11128073" y="3825482"/>
            <a:ext cx="3775062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Desaparece en mínimos cuadrados ordinarios</a:t>
            </a:r>
            <a:endParaRPr sz="3200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4F2F8E92-E648-5556-C8C2-875FC4F68286}"/>
                  </a:ext>
                </a:extLst>
              </p:cNvPr>
              <p:cNvSpPr txBox="1"/>
              <p:nvPr/>
            </p:nvSpPr>
            <p:spPr>
              <a:xfrm>
                <a:off x="3721119" y="5733874"/>
                <a:ext cx="8941936" cy="1340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419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sz="4000" b="0" i="1" smtClean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s-419" sz="4000" i="1">
                          <a:latin typeface="Cambria Math" panose="02040503050406030204" pitchFamily="18" charset="0"/>
                        </a:rPr>
                        <m:t>1 −</m:t>
                      </m:r>
                      <m:f>
                        <m:fPr>
                          <m:ctrlPr>
                            <a:rPr lang="es-419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s-419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s-419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419" sz="4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419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s-419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419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419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s-419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s-419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419" sz="4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419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s-419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419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4F2F8E92-E648-5556-C8C2-875FC4F68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119" y="5733874"/>
                <a:ext cx="8941936" cy="1340432"/>
              </a:xfrm>
              <a:prstGeom prst="rect">
                <a:avLst/>
              </a:prstGeom>
              <a:blipFill>
                <a:blip r:embed="rId3"/>
                <a:stretch>
                  <a:fillRect t="-6604" b="-1792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Google Shape;859;gdc5622224f_0_1704">
            <a:extLst>
              <a:ext uri="{FF2B5EF4-FFF2-40B4-BE49-F238E27FC236}">
                <a16:creationId xmlns:a16="http://schemas.microsoft.com/office/drawing/2014/main" id="{4A40583B-9A33-1C7E-0553-B7021FDC31FB}"/>
              </a:ext>
            </a:extLst>
          </p:cNvPr>
          <p:cNvSpPr/>
          <p:nvPr/>
        </p:nvSpPr>
        <p:spPr>
          <a:xfrm rot="5400000">
            <a:off x="10930240" y="6121244"/>
            <a:ext cx="203804" cy="2440366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22" name="Google Shape;860;gdc5622224f_0_1704">
            <a:extLst>
              <a:ext uri="{FF2B5EF4-FFF2-40B4-BE49-F238E27FC236}">
                <a16:creationId xmlns:a16="http://schemas.microsoft.com/office/drawing/2014/main" id="{E17C27A2-12E5-CAC8-818D-4E965AB33388}"/>
              </a:ext>
            </a:extLst>
          </p:cNvPr>
          <p:cNvSpPr txBox="1"/>
          <p:nvPr/>
        </p:nvSpPr>
        <p:spPr>
          <a:xfrm>
            <a:off x="8418491" y="7530954"/>
            <a:ext cx="4860821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</a:rPr>
              <a:t>% de varianza total explicada por el modelo</a:t>
            </a:r>
            <a:endParaRPr sz="3200" dirty="0">
              <a:solidFill>
                <a:srgbClr val="1155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CB25BE2F-6EF4-7DA2-A7B6-D0EE69E54120}"/>
              </a:ext>
            </a:extLst>
          </p:cNvPr>
          <p:cNvSpPr txBox="1">
            <a:spLocks/>
          </p:cNvSpPr>
          <p:nvPr/>
        </p:nvSpPr>
        <p:spPr>
          <a:xfrm>
            <a:off x="710058" y="6025369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b="0" dirty="0">
                <a:latin typeface="Antenna Light" panose="02000503000000020004" pitchFamily="50" charset="0"/>
              </a:rPr>
              <a:t>Entonces:</a:t>
            </a:r>
          </a:p>
        </p:txBody>
      </p:sp>
    </p:spTree>
    <p:extLst>
      <p:ext uri="{BB962C8B-B14F-4D97-AF65-F5344CB8AC3E}">
        <p14:creationId xmlns:p14="http://schemas.microsoft.com/office/powerpoint/2010/main" val="208750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11" grpId="0"/>
      <p:bldP spid="12" grpId="0" animBg="1"/>
      <p:bldP spid="13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661CE-0371-3A76-17A1-AB969FBF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DB6E27-B86B-F59A-70B5-B13BE1FB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29</a:t>
            </a:fld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B7F6BA2-0129-440D-EA9E-4E19E5100833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Pero en modelos no lineales…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85A6388-6810-8BB0-B936-477A404D1148}"/>
                  </a:ext>
                </a:extLst>
              </p:cNvPr>
              <p:cNvSpPr txBox="1"/>
              <p:nvPr/>
            </p:nvSpPr>
            <p:spPr>
              <a:xfrm>
                <a:off x="2288366" y="2537598"/>
                <a:ext cx="1309690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s-419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sz="4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sz="40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s-419" sz="4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sz="4000" dirty="0"/>
                  <a:t> =</a:t>
                </a:r>
                <a:r>
                  <a:rPr lang="es-419" sz="4000" dirty="0"/>
                  <a:t> </a:t>
                </a:r>
                <a14:m>
                  <m:oMath xmlns:m="http://schemas.openxmlformats.org/officeDocument/2006/math">
                    <m:r>
                      <a:rPr lang="es-419" sz="4000" i="1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s-419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s-419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sz="4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s-419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sz="4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419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419" sz="4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419" sz="4000" i="1">
                        <a:latin typeface="Cambria Math" panose="02040503050406030204" pitchFamily="18" charset="0"/>
                      </a:rPr>
                      <m:t>∑</m:t>
                    </m:r>
                    <m:sSup>
                      <m:sSupPr>
                        <m:ctrlPr>
                          <a:rPr lang="es-419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419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4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s-419" sz="4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419" sz="4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s-419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419" sz="4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s-419" sz="4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CO" sz="4000" dirty="0"/>
                  <a:t>+</a:t>
                </a:r>
                <a:r>
                  <a:rPr lang="es-419" sz="4000" dirty="0"/>
                  <a:t> </a:t>
                </a:r>
                <a14:m>
                  <m:oMath xmlns:m="http://schemas.openxmlformats.org/officeDocument/2006/math">
                    <m:r>
                      <a:rPr lang="es-419" sz="4000" i="1"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s-419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sz="40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s-419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419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4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419" sz="4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419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419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419" sz="4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s-419" sz="4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s-CO" sz="40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85A6388-6810-8BB0-B936-477A404D1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366" y="2537598"/>
                <a:ext cx="13096904" cy="615553"/>
              </a:xfrm>
              <a:prstGeom prst="rect">
                <a:avLst/>
              </a:prstGeom>
              <a:blipFill>
                <a:blip r:embed="rId2"/>
                <a:stretch>
                  <a:fillRect l="-1841" t="-24000" b="-48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859;gdc5622224f_0_1704">
            <a:extLst>
              <a:ext uri="{FF2B5EF4-FFF2-40B4-BE49-F238E27FC236}">
                <a16:creationId xmlns:a16="http://schemas.microsoft.com/office/drawing/2014/main" id="{EC593F08-CAC4-C7D1-5225-C849C4684AB9}"/>
              </a:ext>
            </a:extLst>
          </p:cNvPr>
          <p:cNvSpPr/>
          <p:nvPr/>
        </p:nvSpPr>
        <p:spPr>
          <a:xfrm rot="5400000">
            <a:off x="12873769" y="1427424"/>
            <a:ext cx="174568" cy="4070215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19" name="Google Shape;860;gdc5622224f_0_1704">
            <a:extLst>
              <a:ext uri="{FF2B5EF4-FFF2-40B4-BE49-F238E27FC236}">
                <a16:creationId xmlns:a16="http://schemas.microsoft.com/office/drawing/2014/main" id="{F3D08FBF-2A5D-C205-F3A0-0FC06EC9CB5B}"/>
              </a:ext>
            </a:extLst>
          </p:cNvPr>
          <p:cNvSpPr txBox="1"/>
          <p:nvPr/>
        </p:nvSpPr>
        <p:spPr>
          <a:xfrm>
            <a:off x="10777396" y="3730294"/>
            <a:ext cx="4607874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00B050"/>
                </a:solidFill>
                <a:latin typeface="Proxima Nova"/>
                <a:ea typeface="Proxima Nova"/>
                <a:cs typeface="Proxima Nova"/>
                <a:sym typeface="Proxima Nova"/>
              </a:rPr>
              <a:t>Este término no necesariamente es cero</a:t>
            </a:r>
            <a:endParaRPr sz="3200" dirty="0">
              <a:solidFill>
                <a:srgbClr val="00B05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" name="Google Shape;859;gdc5622224f_0_1704">
            <a:extLst>
              <a:ext uri="{FF2B5EF4-FFF2-40B4-BE49-F238E27FC236}">
                <a16:creationId xmlns:a16="http://schemas.microsoft.com/office/drawing/2014/main" id="{93468DD5-EF39-7733-3F3D-233217C19C67}"/>
              </a:ext>
            </a:extLst>
          </p:cNvPr>
          <p:cNvSpPr/>
          <p:nvPr/>
        </p:nvSpPr>
        <p:spPr>
          <a:xfrm rot="5400000">
            <a:off x="11397443" y="5835371"/>
            <a:ext cx="203804" cy="2440366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55CC"/>
              </a:solidFill>
            </a:endParaRPr>
          </a:p>
        </p:txBody>
      </p:sp>
      <p:sp>
        <p:nvSpPr>
          <p:cNvPr id="22" name="Google Shape;860;gdc5622224f_0_1704">
            <a:extLst>
              <a:ext uri="{FF2B5EF4-FFF2-40B4-BE49-F238E27FC236}">
                <a16:creationId xmlns:a16="http://schemas.microsoft.com/office/drawing/2014/main" id="{92EFF35F-C19F-1E83-BBB4-72779539E111}"/>
              </a:ext>
            </a:extLst>
          </p:cNvPr>
          <p:cNvSpPr txBox="1"/>
          <p:nvPr/>
        </p:nvSpPr>
        <p:spPr>
          <a:xfrm>
            <a:off x="10037637" y="7055554"/>
            <a:ext cx="2923416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1155CC"/>
                </a:solidFill>
                <a:latin typeface="Proxima Nova"/>
                <a:ea typeface="Proxima Nova"/>
                <a:cs typeface="Proxima Nova"/>
                <a:sym typeface="Proxima Nova"/>
              </a:rPr>
              <a:t>% de varianza total explicada por el modelo</a:t>
            </a:r>
            <a:endParaRPr sz="3200" dirty="0">
              <a:solidFill>
                <a:srgbClr val="1155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23DC3BA-9469-5F22-41AB-804EA79C0791}"/>
              </a:ext>
            </a:extLst>
          </p:cNvPr>
          <p:cNvSpPr txBox="1">
            <a:spLocks/>
          </p:cNvSpPr>
          <p:nvPr/>
        </p:nvSpPr>
        <p:spPr>
          <a:xfrm>
            <a:off x="643556" y="5691657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b="0" dirty="0">
                <a:latin typeface="Antenna Light" panose="02000503000000020004" pitchFamily="50" charset="0"/>
              </a:rPr>
              <a:t>Entonces:</a:t>
            </a:r>
          </a:p>
        </p:txBody>
      </p:sp>
      <p:sp>
        <p:nvSpPr>
          <p:cNvPr id="4" name="Google Shape;867;gdc5622224f_0_1697">
            <a:extLst>
              <a:ext uri="{FF2B5EF4-FFF2-40B4-BE49-F238E27FC236}">
                <a16:creationId xmlns:a16="http://schemas.microsoft.com/office/drawing/2014/main" id="{A5B4ADE8-DA5B-230B-71B9-F5F6633BC01B}"/>
              </a:ext>
            </a:extLst>
          </p:cNvPr>
          <p:cNvSpPr txBox="1"/>
          <p:nvPr/>
        </p:nvSpPr>
        <p:spPr>
          <a:xfrm>
            <a:off x="770672" y="7447076"/>
            <a:ext cx="7903428" cy="12926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dirty="0">
                <a:solidFill>
                  <a:srgbClr val="181B3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La métrica es informativa, pero la interpretación NO es la usual</a:t>
            </a:r>
            <a:endParaRPr sz="3600" dirty="0">
              <a:solidFill>
                <a:srgbClr val="181B3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40E6A1C-ADEB-753C-E600-5B80463C0459}"/>
                  </a:ext>
                </a:extLst>
              </p:cNvPr>
              <p:cNvSpPr txBox="1"/>
              <p:nvPr/>
            </p:nvSpPr>
            <p:spPr>
              <a:xfrm>
                <a:off x="4203132" y="5426766"/>
                <a:ext cx="8941936" cy="1340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419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419" sz="4000" b="0" i="1" smtClean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s-419" sz="4000" i="1">
                          <a:latin typeface="Cambria Math" panose="02040503050406030204" pitchFamily="18" charset="0"/>
                        </a:rPr>
                        <m:t>1 −</m:t>
                      </m:r>
                      <m:f>
                        <m:fPr>
                          <m:ctrlPr>
                            <a:rPr lang="es-419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s-419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s-419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419" sz="4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s-419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s-419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419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419" sz="4000" b="0" i="1" smtClean="0">
                          <a:latin typeface="Cambria Math" panose="02040503050406030204" pitchFamily="18" charset="0"/>
                        </a:rPr>
                        <m:t>≠</m:t>
                      </m:r>
                      <m:f>
                        <m:fPr>
                          <m:ctrlPr>
                            <a:rPr lang="es-419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s-419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s-419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419" sz="4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419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419" sz="4000" i="1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s-419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419" sz="4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419" sz="4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419" sz="4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sz="40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40E6A1C-ADEB-753C-E600-5B80463C0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132" y="5426766"/>
                <a:ext cx="8941936" cy="1340432"/>
              </a:xfrm>
              <a:prstGeom prst="rect">
                <a:avLst/>
              </a:prstGeom>
              <a:blipFill>
                <a:blip r:embed="rId3"/>
                <a:stretch>
                  <a:fillRect t="-6604" b="-1792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76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1" grpId="0" animBg="1"/>
      <p:bldP spid="22" grpId="0"/>
      <p:bldP spid="4" grpId="0" animBg="1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C2CED45-6F8C-978A-C537-A6BA8B5C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30</a:t>
            </a:fld>
            <a:endParaRPr lang="es-CO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77FBB58-3F12-D72A-CC5C-C0EDDF649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271611"/>
              </p:ext>
            </p:extLst>
          </p:nvPr>
        </p:nvGraphicFramePr>
        <p:xfrm>
          <a:off x="1779312" y="3075016"/>
          <a:ext cx="141150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59">
                  <a:extLst>
                    <a:ext uri="{9D8B030D-6E8A-4147-A177-3AD203B41FA5}">
                      <a16:colId xmlns:a16="http://schemas.microsoft.com/office/drawing/2014/main" val="4282214658"/>
                    </a:ext>
                  </a:extLst>
                </a:gridCol>
                <a:gridCol w="2660073">
                  <a:extLst>
                    <a:ext uri="{9D8B030D-6E8A-4147-A177-3AD203B41FA5}">
                      <a16:colId xmlns:a16="http://schemas.microsoft.com/office/drawing/2014/main" val="3124752300"/>
                    </a:ext>
                  </a:extLst>
                </a:gridCol>
                <a:gridCol w="9260380">
                  <a:extLst>
                    <a:ext uri="{9D8B030D-6E8A-4147-A177-3AD203B41FA5}">
                      <a16:colId xmlns:a16="http://schemas.microsoft.com/office/drawing/2014/main" val="254724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Tipo de 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¿Cuándo es útil?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000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 err="1"/>
                        <a:t>Accuracy</a:t>
                      </a:r>
                      <a:endParaRPr lang="es-CO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Clasificación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Datos balanceados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0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 err="1"/>
                        <a:t>Recall</a:t>
                      </a:r>
                      <a:endParaRPr lang="es-CO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Clasificación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Costo alto de falso negativo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73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b="0" dirty="0" err="1"/>
                        <a:t>Precision</a:t>
                      </a:r>
                      <a:endParaRPr lang="es-CO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Clasificación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Costo alto de falso positivo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79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Clasificación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Balance entre costos de falso negativo y positivo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739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/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Clasificación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Comparar modelos independiente del umbral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933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Regresión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Penalizar </a:t>
                      </a:r>
                      <a:r>
                        <a:rPr lang="es-CO" sz="2400" dirty="0" err="1"/>
                        <a:t>outliers</a:t>
                      </a:r>
                      <a:endParaRPr lang="es-CO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354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Regresión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Interpretabilidad y cuando queremos estimar valores absolutos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46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dirty="0"/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Regresión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dirty="0"/>
                        <a:t>Interpretabilidad y cuando queremos estimar valores relativos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419971"/>
                  </a:ext>
                </a:extLst>
              </a:tr>
            </a:tbl>
          </a:graphicData>
        </a:graphic>
      </p:graphicFrame>
      <p:sp>
        <p:nvSpPr>
          <p:cNvPr id="4" name="Título 1">
            <a:extLst>
              <a:ext uri="{FF2B5EF4-FFF2-40B4-BE49-F238E27FC236}">
                <a16:creationId xmlns:a16="http://schemas.microsoft.com/office/drawing/2014/main" id="{0F31BA0D-FAA2-E21A-3D64-E9B4231CE1F0}"/>
              </a:ext>
            </a:extLst>
          </p:cNvPr>
          <p:cNvSpPr txBox="1">
            <a:spLocks/>
          </p:cNvSpPr>
          <p:nvPr/>
        </p:nvSpPr>
        <p:spPr>
          <a:xfrm>
            <a:off x="2918471" y="1164511"/>
            <a:ext cx="11836695" cy="1063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baseline="0">
                <a:solidFill>
                  <a:schemeClr val="tx1"/>
                </a:solidFill>
                <a:latin typeface="Antenna Bold"/>
                <a:ea typeface="+mj-ea"/>
                <a:cs typeface="+mj-cs"/>
              </a:defRPr>
            </a:lvl1pPr>
          </a:lstStyle>
          <a:p>
            <a:r>
              <a:rPr lang="es-CO" sz="5400" dirty="0">
                <a:solidFill>
                  <a:srgbClr val="652B90"/>
                </a:solidFill>
                <a:latin typeface="Antenna Light" panose="02000503000000020004" pitchFamily="50" charset="0"/>
                <a:ea typeface="+mn-ea"/>
                <a:cs typeface="+mn-cs"/>
              </a:rPr>
              <a:t>¿Cuándo usar qué?</a:t>
            </a:r>
          </a:p>
        </p:txBody>
      </p:sp>
    </p:spTree>
    <p:extLst>
      <p:ext uri="{BB962C8B-B14F-4D97-AF65-F5344CB8AC3E}">
        <p14:creationId xmlns:p14="http://schemas.microsoft.com/office/powerpoint/2010/main" val="215877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http://www.uniandes.edu.co/images/phocagallery/campus%20103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" t="7327" b="9800"/>
          <a:stretch/>
        </p:blipFill>
        <p:spPr bwMode="auto">
          <a:xfrm>
            <a:off x="1" y="0"/>
            <a:ext cx="173482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/>
          <p:cNvSpPr/>
          <p:nvPr/>
        </p:nvSpPr>
        <p:spPr>
          <a:xfrm>
            <a:off x="2871091" y="3178927"/>
            <a:ext cx="11674897" cy="3686810"/>
          </a:xfrm>
          <a:prstGeom prst="rect">
            <a:avLst/>
          </a:prstGeom>
          <a:solidFill>
            <a:srgbClr val="7030A0">
              <a:alpha val="58415"/>
            </a:srgbClr>
          </a:solidFill>
          <a:ln w="200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560"/>
          </a:p>
        </p:txBody>
      </p:sp>
      <p:sp>
        <p:nvSpPr>
          <p:cNvPr id="6" name="Rectángulo 5"/>
          <p:cNvSpPr/>
          <p:nvPr/>
        </p:nvSpPr>
        <p:spPr>
          <a:xfrm rot="2700000">
            <a:off x="6038547" y="2161208"/>
            <a:ext cx="5271105" cy="5431184"/>
          </a:xfrm>
          <a:prstGeom prst="rect">
            <a:avLst/>
          </a:prstGeom>
          <a:noFill/>
          <a:ln w="95250">
            <a:solidFill>
              <a:schemeClr val="bg1">
                <a:alpha val="4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560"/>
          </a:p>
        </p:txBody>
      </p:sp>
      <p:sp>
        <p:nvSpPr>
          <p:cNvPr id="8" name="Rectángulo 7"/>
          <p:cNvSpPr/>
          <p:nvPr/>
        </p:nvSpPr>
        <p:spPr>
          <a:xfrm>
            <a:off x="2802212" y="3631306"/>
            <a:ext cx="12106030" cy="2179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lnSpc>
                <a:spcPct val="30000"/>
              </a:lnSpc>
              <a:defRPr/>
            </a:pPr>
            <a:endParaRPr lang="es-MX" sz="7200" b="1">
              <a:solidFill>
                <a:schemeClr val="bg1"/>
              </a:solidFill>
              <a:latin typeface="Antenna Bold" panose="02000503000000020004" pitchFamily="50" charset="0"/>
              <a:ea typeface="Arial Unicode MS" pitchFamily="34" charset="-128"/>
              <a:cs typeface="Arial Unicode MS" pitchFamily="34" charset="-128"/>
            </a:endParaRPr>
          </a:p>
          <a:p>
            <a:pPr algn="ctr" eaLnBrk="0" hangingPunct="0">
              <a:defRPr/>
            </a:pPr>
            <a:r>
              <a:rPr lang="es-MX" sz="11400" b="1">
                <a:solidFill>
                  <a:schemeClr val="bg1"/>
                </a:solidFill>
                <a:latin typeface="Antenna Bold" panose="02000503000000020004" pitchFamily="50" charset="0"/>
                <a:ea typeface="Arial Unicode MS" pitchFamily="34" charset="-128"/>
                <a:cs typeface="Arial" panose="020B0604020202020204" pitchFamily="34" charset="0"/>
              </a:rPr>
              <a:t>PREGUNTAS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777DE7A-8E8E-4648-8781-DFEBA320B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31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6510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www.uniandes.edu.co/images/phocagallery/campus%2070.jpg"/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6" r="1540"/>
          <a:stretch/>
        </p:blipFill>
        <p:spPr bwMode="auto">
          <a:xfrm>
            <a:off x="4234" y="0"/>
            <a:ext cx="17339733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979530" y="557002"/>
            <a:ext cx="15389131" cy="8780961"/>
          </a:xfrm>
          <a:prstGeom prst="rect">
            <a:avLst/>
          </a:prstGeom>
          <a:solidFill>
            <a:schemeClr val="accent6">
              <a:lumMod val="50000"/>
              <a:alpha val="85607"/>
            </a:schemeClr>
          </a:solidFill>
          <a:ln w="200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6" name="Rectángulo 5"/>
          <p:cNvSpPr/>
          <p:nvPr/>
        </p:nvSpPr>
        <p:spPr>
          <a:xfrm>
            <a:off x="1419837" y="1737835"/>
            <a:ext cx="15271767" cy="1200329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 eaLnBrk="0" hangingPunct="0">
              <a:defRPr/>
            </a:pPr>
            <a:r>
              <a:rPr lang="es-MX" sz="7200" b="1">
                <a:solidFill>
                  <a:schemeClr val="bg1"/>
                </a:solidFill>
                <a:latin typeface="Antenna Bold" panose="02000503000000020004" pitchFamily="50" charset="0"/>
                <a:ea typeface="Arial Unicode MS"/>
                <a:cs typeface="Arial"/>
              </a:rPr>
              <a:t>CONTÁCTANOS</a:t>
            </a:r>
            <a:endParaRPr lang="es-ES" sz="2400">
              <a:solidFill>
                <a:schemeClr val="bg1"/>
              </a:solidFill>
              <a:latin typeface="Antenna Bold" panose="02000503000000020004" pitchFamily="50" charset="0"/>
              <a:ea typeface="Arial Unicode MS"/>
              <a:cs typeface="Arial"/>
            </a:endParaRPr>
          </a:p>
        </p:txBody>
      </p:sp>
      <p:sp>
        <p:nvSpPr>
          <p:cNvPr id="7" name="29 Rectángulo"/>
          <p:cNvSpPr/>
          <p:nvPr/>
        </p:nvSpPr>
        <p:spPr>
          <a:xfrm>
            <a:off x="2993519" y="3204054"/>
            <a:ext cx="1476027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390590"/>
            <a:r>
              <a:rPr lang="es-CO" sz="2400" b="1">
                <a:solidFill>
                  <a:schemeClr val="bg1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PÁGINAS</a:t>
            </a:r>
            <a:r>
              <a:rPr lang="es-CO" sz="3200" b="1">
                <a:solidFill>
                  <a:schemeClr val="bg1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 WEB - </a:t>
            </a:r>
            <a:r>
              <a:rPr lang="es-ES" sz="2800" b="1">
                <a:solidFill>
                  <a:schemeClr val="bg1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Ingeniería Industrial</a:t>
            </a:r>
            <a:r>
              <a:rPr lang="es-ES" sz="2800" b="1">
                <a:solidFill>
                  <a:srgbClr val="FFFF00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:</a:t>
            </a:r>
          </a:p>
          <a:p>
            <a:pPr lvl="1" indent="-390590"/>
            <a:r>
              <a:rPr lang="es-ES" sz="2400" b="1">
                <a:solidFill>
                  <a:srgbClr val="FFFF00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https://industrial.uniandes.edu.co/es/programas-academicos/maestrias</a:t>
            </a:r>
            <a:endParaRPr lang="es-ES" sz="2800" b="1">
              <a:solidFill>
                <a:srgbClr val="FFFF00"/>
              </a:solidFill>
              <a:latin typeface="Antenna Light" panose="02000503000000020004" pitchFamily="50" charset="0"/>
              <a:cs typeface="Arial" panose="020B0604020202020204" pitchFamily="34" charset="0"/>
            </a:endParaRPr>
          </a:p>
        </p:txBody>
      </p:sp>
      <p:sp>
        <p:nvSpPr>
          <p:cNvPr id="8" name="29 Rectángulo"/>
          <p:cNvSpPr/>
          <p:nvPr/>
        </p:nvSpPr>
        <p:spPr>
          <a:xfrm>
            <a:off x="2993519" y="4367716"/>
            <a:ext cx="112153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390590"/>
            <a:r>
              <a:rPr lang="es-CO" sz="2400" b="1">
                <a:solidFill>
                  <a:schemeClr val="bg1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CORREO Maestría:   </a:t>
            </a:r>
            <a:r>
              <a:rPr lang="es-CO" sz="2400" b="1">
                <a:solidFill>
                  <a:srgbClr val="FFFF00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solicitudes-miad@uniandes.edu.co</a:t>
            </a:r>
            <a:endParaRPr lang="es-CO" sz="2400" b="1">
              <a:solidFill>
                <a:schemeClr val="bg1"/>
              </a:solidFill>
              <a:latin typeface="Antenna Light" panose="02000503000000020004" pitchFamily="50" charset="0"/>
              <a:cs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1885932" y="1166658"/>
            <a:ext cx="13576333" cy="7459181"/>
          </a:xfrm>
          <a:prstGeom prst="rect">
            <a:avLst/>
          </a:prstGeom>
          <a:noFill/>
          <a:ln w="952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400"/>
          </a:p>
        </p:txBody>
      </p:sp>
      <p:sp>
        <p:nvSpPr>
          <p:cNvPr id="10" name="30 Rectángulo"/>
          <p:cNvSpPr/>
          <p:nvPr/>
        </p:nvSpPr>
        <p:spPr>
          <a:xfrm>
            <a:off x="2612269" y="4980282"/>
            <a:ext cx="70910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s-CO" sz="2400" b="1">
                <a:solidFill>
                  <a:schemeClr val="bg1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OTROS</a:t>
            </a:r>
            <a:r>
              <a:rPr lang="es-CO" sz="2800" b="1">
                <a:solidFill>
                  <a:schemeClr val="bg1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 ENLACES DE IMPORTANCIA</a:t>
            </a:r>
          </a:p>
        </p:txBody>
      </p:sp>
      <p:sp>
        <p:nvSpPr>
          <p:cNvPr id="11" name="20 Rectángulo"/>
          <p:cNvSpPr/>
          <p:nvPr/>
        </p:nvSpPr>
        <p:spPr>
          <a:xfrm>
            <a:off x="3166964" y="5426767"/>
            <a:ext cx="115205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>
                <a:solidFill>
                  <a:schemeClr val="bg1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Matrículas: </a:t>
            </a:r>
            <a:r>
              <a:rPr lang="es-ES" sz="2400" b="1">
                <a:solidFill>
                  <a:srgbClr val="FFFF00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https://matriculas.uniandes.edu.co/</a:t>
            </a:r>
          </a:p>
        </p:txBody>
      </p:sp>
      <p:sp>
        <p:nvSpPr>
          <p:cNvPr id="12" name="22 Rectángulo"/>
          <p:cNvSpPr/>
          <p:nvPr/>
        </p:nvSpPr>
        <p:spPr>
          <a:xfrm>
            <a:off x="3166964" y="5888388"/>
            <a:ext cx="115205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>
                <a:solidFill>
                  <a:schemeClr val="bg1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Registro: </a:t>
            </a:r>
            <a:r>
              <a:rPr lang="es-ES" sz="2400" b="1">
                <a:solidFill>
                  <a:srgbClr val="FFFF00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http://registro.uniandes.edu.co/</a:t>
            </a:r>
          </a:p>
        </p:txBody>
      </p:sp>
      <p:sp>
        <p:nvSpPr>
          <p:cNvPr id="13" name="27 Rectángulo"/>
          <p:cNvSpPr/>
          <p:nvPr/>
        </p:nvSpPr>
        <p:spPr>
          <a:xfrm>
            <a:off x="3166964" y="6335858"/>
            <a:ext cx="115205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>
                <a:solidFill>
                  <a:schemeClr val="bg1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Bloque Neón: </a:t>
            </a:r>
            <a:r>
              <a:rPr lang="es-ES" sz="2400" b="1">
                <a:solidFill>
                  <a:srgbClr val="FFFF00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http://</a:t>
            </a:r>
            <a:r>
              <a:rPr lang="es-ES" sz="2400" b="1" err="1">
                <a:solidFill>
                  <a:srgbClr val="FFFF00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bloqueneon.uniandes.edu.co</a:t>
            </a:r>
            <a:r>
              <a:rPr lang="es-ES" sz="2400" b="1">
                <a:solidFill>
                  <a:srgbClr val="FFFF00"/>
                </a:solidFill>
                <a:latin typeface="Antenna Light" panose="02000503000000020004" pitchFamily="50" charset="0"/>
                <a:cs typeface="Arial" panose="020B0604020202020204" pitchFamily="34" charset="0"/>
              </a:rPr>
              <a:t>/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D110EF0C-3475-B946-9C5F-E68A475B1926}"/>
              </a:ext>
            </a:extLst>
          </p:cNvPr>
          <p:cNvGrpSpPr/>
          <p:nvPr/>
        </p:nvGrpSpPr>
        <p:grpSpPr>
          <a:xfrm>
            <a:off x="3154923" y="7658343"/>
            <a:ext cx="2740575" cy="512811"/>
            <a:chOff x="2493370" y="7674606"/>
            <a:chExt cx="2740575" cy="512811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25F0F399-B2E5-4EAC-9418-DB924D45C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3370" y="7674606"/>
              <a:ext cx="466192" cy="512811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1A14C814-76FC-42C0-8470-200336FAEFB7}"/>
                </a:ext>
              </a:extLst>
            </p:cNvPr>
            <p:cNvSpPr txBox="1"/>
            <p:nvPr/>
          </p:nvSpPr>
          <p:spPr>
            <a:xfrm>
              <a:off x="3018709" y="7700178"/>
              <a:ext cx="2215236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s-CO" sz="2400" b="1" err="1">
                  <a:solidFill>
                    <a:srgbClr val="FFFF00"/>
                  </a:solidFill>
                  <a:latin typeface="Antenna Light" panose="02000503000000020004" pitchFamily="50" charset="0"/>
                  <a:cs typeface="Arial"/>
                </a:rPr>
                <a:t>AnalyticsUA</a:t>
              </a:r>
              <a:endParaRPr lang="es-CO" sz="2400" b="1">
                <a:solidFill>
                  <a:srgbClr val="FFFF00"/>
                </a:solidFill>
                <a:latin typeface="Antenna Light" panose="02000503000000020004" pitchFamily="50" charset="0"/>
                <a:cs typeface="Arial"/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9879E2E8-0FC0-4249-B3E0-440025EE0D79}"/>
              </a:ext>
            </a:extLst>
          </p:cNvPr>
          <p:cNvGrpSpPr/>
          <p:nvPr/>
        </p:nvGrpSpPr>
        <p:grpSpPr>
          <a:xfrm>
            <a:off x="11039383" y="7631587"/>
            <a:ext cx="5975164" cy="539567"/>
            <a:chOff x="9667712" y="7599597"/>
            <a:chExt cx="5975164" cy="539567"/>
          </a:xfrm>
        </p:grpSpPr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1F26FB15-16EB-49DA-943B-0879EE8FE109}"/>
                </a:ext>
              </a:extLst>
            </p:cNvPr>
            <p:cNvSpPr txBox="1"/>
            <p:nvPr/>
          </p:nvSpPr>
          <p:spPr>
            <a:xfrm>
              <a:off x="10216736" y="7631587"/>
              <a:ext cx="5426140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s-CO" sz="2400" b="1">
                  <a:solidFill>
                    <a:srgbClr val="FFFF00"/>
                  </a:solidFill>
                  <a:latin typeface="Antenna Light" panose="02000503000000020004" pitchFamily="50" charset="0"/>
                  <a:cs typeface="Arial"/>
                </a:rPr>
                <a:t>AnalyticsUA</a:t>
              </a:r>
            </a:p>
          </p:txBody>
        </p:sp>
        <p:pic>
          <p:nvPicPr>
            <p:cNvPr id="19" name="Imagen 2" descr="Imagen que contiene dibujo, luz, alimentos&#10;&#10;Descripción generada con confianza muy alta">
              <a:extLst>
                <a:ext uri="{FF2B5EF4-FFF2-40B4-BE49-F238E27FC236}">
                  <a16:creationId xmlns:a16="http://schemas.microsoft.com/office/drawing/2014/main" id="{0C501945-7443-4162-A690-D721D68D0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67712" y="7599597"/>
              <a:ext cx="465189" cy="539567"/>
            </a:xfrm>
            <a:prstGeom prst="rect">
              <a:avLst/>
            </a:prstGeom>
          </p:spPr>
        </p:pic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4495CC6E-F3DA-B045-88D1-9D4C5DDF823D}"/>
              </a:ext>
            </a:extLst>
          </p:cNvPr>
          <p:cNvGrpSpPr/>
          <p:nvPr/>
        </p:nvGrpSpPr>
        <p:grpSpPr>
          <a:xfrm>
            <a:off x="7167504" y="7622276"/>
            <a:ext cx="2896573" cy="539567"/>
            <a:chOff x="6158062" y="7631587"/>
            <a:chExt cx="2896573" cy="539567"/>
          </a:xfrm>
        </p:grpSpPr>
        <p:pic>
          <p:nvPicPr>
            <p:cNvPr id="20" name="Imagen 3" descr="Imagen que contiene dibujo&#10;&#10;Descripción generada con confianza muy alta">
              <a:extLst>
                <a:ext uri="{FF2B5EF4-FFF2-40B4-BE49-F238E27FC236}">
                  <a16:creationId xmlns:a16="http://schemas.microsoft.com/office/drawing/2014/main" id="{13FAD0BE-37A8-4B3E-ACF6-9EA596735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58062" y="7631587"/>
              <a:ext cx="465188" cy="539567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FE640896-75A3-4834-8AF4-4FD719A9FF79}"/>
                </a:ext>
              </a:extLst>
            </p:cNvPr>
            <p:cNvSpPr txBox="1"/>
            <p:nvPr/>
          </p:nvSpPr>
          <p:spPr>
            <a:xfrm>
              <a:off x="6707085" y="7645511"/>
              <a:ext cx="2347550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s-CO" sz="2400" b="1" err="1">
                  <a:solidFill>
                    <a:srgbClr val="FFFF00"/>
                  </a:solidFill>
                  <a:latin typeface="Antenna Light" panose="02000503000000020004" pitchFamily="50" charset="0"/>
                  <a:cs typeface="Arial"/>
                </a:rPr>
                <a:t>AnalyticsUA</a:t>
              </a:r>
              <a:endParaRPr lang="es-CO" sz="2400" b="1">
                <a:solidFill>
                  <a:srgbClr val="FFFF00"/>
                </a:solidFill>
                <a:latin typeface="Antenna Light" panose="02000503000000020004" pitchFamily="50" charset="0"/>
                <a:cs typeface="Arial"/>
              </a:endParaRPr>
            </a:p>
          </p:txBody>
        </p:sp>
      </p:grp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49C89928-E6E1-4041-9DCB-2208881E5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28308-B333-6242-BF8D-6933135FAEFA}" type="slidenum">
              <a:rPr lang="es-CO" smtClean="0"/>
              <a:t>32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53002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402497"/>
      </p:ext>
    </p:extLst>
  </p:cSld>
  <p:clrMapOvr>
    <a:masterClrMapping/>
  </p:clrMapOvr>
</p:sld>
</file>

<file path=ppt/theme/theme1.xml><?xml version="1.0" encoding="utf-8"?>
<a:theme xmlns:a="http://schemas.openxmlformats.org/drawingml/2006/main" name="Para recursos en general">
  <a:themeElements>
    <a:clrScheme name="Personalizados 2">
      <a:dk1>
        <a:srgbClr val="011430"/>
      </a:dk1>
      <a:lt1>
        <a:srgbClr val="FFFFFF"/>
      </a:lt1>
      <a:dk2>
        <a:srgbClr val="011430"/>
      </a:dk2>
      <a:lt2>
        <a:srgbClr val="F1F2F2"/>
      </a:lt2>
      <a:accent1>
        <a:srgbClr val="662C91"/>
      </a:accent1>
      <a:accent2>
        <a:srgbClr val="ED7D31"/>
      </a:accent2>
      <a:accent3>
        <a:srgbClr val="F7931E"/>
      </a:accent3>
      <a:accent4>
        <a:srgbClr val="F9ED32"/>
      </a:accent4>
      <a:accent5>
        <a:srgbClr val="19CDE3"/>
      </a:accent5>
      <a:accent6>
        <a:srgbClr val="662C91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V2" id="{C29ADB89-F7B5-454D-83CF-4C87FB4F7E33}" vid="{0F5A158B-BB6A-2444-A4F6-1F7DBC895C23}"/>
    </a:ext>
  </a:extLst>
</a:theme>
</file>

<file path=ppt/theme/theme2.xml><?xml version="1.0" encoding="utf-8"?>
<a:theme xmlns:a="http://schemas.openxmlformats.org/drawingml/2006/main" name="Encabezados y cierre">
  <a:themeElements>
    <a:clrScheme name="MIAD Virtual">
      <a:dk1>
        <a:srgbClr val="000000"/>
      </a:dk1>
      <a:lt1>
        <a:srgbClr val="FFFFFF"/>
      </a:lt1>
      <a:dk2>
        <a:srgbClr val="011430"/>
      </a:dk2>
      <a:lt2>
        <a:srgbClr val="F1F2F2"/>
      </a:lt2>
      <a:accent1>
        <a:srgbClr val="662C91"/>
      </a:accent1>
      <a:accent2>
        <a:srgbClr val="ED7D31"/>
      </a:accent2>
      <a:accent3>
        <a:srgbClr val="F7931E"/>
      </a:accent3>
      <a:accent4>
        <a:srgbClr val="F9ED32"/>
      </a:accent4>
      <a:accent5>
        <a:srgbClr val="19CDE3"/>
      </a:accent5>
      <a:accent6>
        <a:srgbClr val="662C9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V2" id="{C29ADB89-F7B5-454D-83CF-4C87FB4F7E33}" vid="{ED3B092D-E01E-6D4E-84B1-E04DE293854D}"/>
    </a:ext>
  </a:extLst>
</a:theme>
</file>

<file path=ppt/theme/theme3.xml><?xml version="1.0" encoding="utf-8"?>
<a:theme xmlns:a="http://schemas.openxmlformats.org/drawingml/2006/main" name="Diseño para Videos">
  <a:themeElements>
    <a:clrScheme name="MIAD Virtual">
      <a:dk1>
        <a:srgbClr val="000000"/>
      </a:dk1>
      <a:lt1>
        <a:srgbClr val="FFFFFF"/>
      </a:lt1>
      <a:dk2>
        <a:srgbClr val="011430"/>
      </a:dk2>
      <a:lt2>
        <a:srgbClr val="F1F2F2"/>
      </a:lt2>
      <a:accent1>
        <a:srgbClr val="662C91"/>
      </a:accent1>
      <a:accent2>
        <a:srgbClr val="ED7D31"/>
      </a:accent2>
      <a:accent3>
        <a:srgbClr val="F7931E"/>
      </a:accent3>
      <a:accent4>
        <a:srgbClr val="F9ED32"/>
      </a:accent4>
      <a:accent5>
        <a:srgbClr val="19CDE3"/>
      </a:accent5>
      <a:accent6>
        <a:srgbClr val="662C9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V2" id="{C29ADB89-F7B5-454D-83CF-4C87FB4F7E33}" vid="{0343ADE4-23BC-2441-B9E8-2C4763EA1BF2}"/>
    </a:ext>
  </a:extLst>
</a:theme>
</file>

<file path=ppt/theme/theme4.xml><?xml version="1.0" encoding="utf-8"?>
<a:theme xmlns:a="http://schemas.openxmlformats.org/drawingml/2006/main" name="1_Encabezados y cierre">
  <a:themeElements>
    <a:clrScheme name="MIAD Virtual">
      <a:dk1>
        <a:srgbClr val="000000"/>
      </a:dk1>
      <a:lt1>
        <a:srgbClr val="FFFFFF"/>
      </a:lt1>
      <a:dk2>
        <a:srgbClr val="011430"/>
      </a:dk2>
      <a:lt2>
        <a:srgbClr val="F1F2F2"/>
      </a:lt2>
      <a:accent1>
        <a:srgbClr val="662C91"/>
      </a:accent1>
      <a:accent2>
        <a:srgbClr val="ED7D31"/>
      </a:accent2>
      <a:accent3>
        <a:srgbClr val="F7931E"/>
      </a:accent3>
      <a:accent4>
        <a:srgbClr val="F9ED32"/>
      </a:accent4>
      <a:accent5>
        <a:srgbClr val="19CDE3"/>
      </a:accent5>
      <a:accent6>
        <a:srgbClr val="662C9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55FE0C6C-01EE-4ECE-8EE6-01A4AB76A960}" vid="{A57AC167-B8EB-426B-9899-9CFBC527F827}"/>
    </a:ext>
  </a:extLst>
</a:theme>
</file>

<file path=ppt/theme/theme5.xml><?xml version="1.0" encoding="utf-8"?>
<a:theme xmlns:a="http://schemas.openxmlformats.org/drawingml/2006/main" name="1_Para recursos en general">
  <a:themeElements>
    <a:clrScheme name="Personalizados 2">
      <a:dk1>
        <a:srgbClr val="011430"/>
      </a:dk1>
      <a:lt1>
        <a:srgbClr val="FFFFFF"/>
      </a:lt1>
      <a:dk2>
        <a:srgbClr val="011430"/>
      </a:dk2>
      <a:lt2>
        <a:srgbClr val="F1F2F2"/>
      </a:lt2>
      <a:accent1>
        <a:srgbClr val="662C91"/>
      </a:accent1>
      <a:accent2>
        <a:srgbClr val="ED7D31"/>
      </a:accent2>
      <a:accent3>
        <a:srgbClr val="F7931E"/>
      </a:accent3>
      <a:accent4>
        <a:srgbClr val="F9ED32"/>
      </a:accent4>
      <a:accent5>
        <a:srgbClr val="19CDE3"/>
      </a:accent5>
      <a:accent6>
        <a:srgbClr val="662C91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55FE0C6C-01EE-4ECE-8EE6-01A4AB76A960}" vid="{31ED6052-AD42-4D63-82F4-30A39D6B8781}"/>
    </a:ext>
  </a:extLst>
</a:theme>
</file>

<file path=ppt/theme/theme6.xml><?xml version="1.0" encoding="utf-8"?>
<a:theme xmlns:a="http://schemas.openxmlformats.org/drawingml/2006/main" name="1_Diseño para Videos">
  <a:themeElements>
    <a:clrScheme name="MIAD Virtual">
      <a:dk1>
        <a:srgbClr val="000000"/>
      </a:dk1>
      <a:lt1>
        <a:srgbClr val="FFFFFF"/>
      </a:lt1>
      <a:dk2>
        <a:srgbClr val="011430"/>
      </a:dk2>
      <a:lt2>
        <a:srgbClr val="F1F2F2"/>
      </a:lt2>
      <a:accent1>
        <a:srgbClr val="662C91"/>
      </a:accent1>
      <a:accent2>
        <a:srgbClr val="ED7D31"/>
      </a:accent2>
      <a:accent3>
        <a:srgbClr val="F7931E"/>
      </a:accent3>
      <a:accent4>
        <a:srgbClr val="F9ED32"/>
      </a:accent4>
      <a:accent5>
        <a:srgbClr val="19CDE3"/>
      </a:accent5>
      <a:accent6>
        <a:srgbClr val="662C9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55FE0C6C-01EE-4ECE-8EE6-01A4AB76A960}" vid="{D8236122-F687-4A54-BB69-AD62DD2937AF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0B337A07470EA4D815EAD85B02F9412" ma:contentTypeVersion="9" ma:contentTypeDescription="Crear nuevo documento." ma:contentTypeScope="" ma:versionID="b304f66378d28b5caa8e5ff66c085823">
  <xsd:schema xmlns:xsd="http://www.w3.org/2001/XMLSchema" xmlns:xs="http://www.w3.org/2001/XMLSchema" xmlns:p="http://schemas.microsoft.com/office/2006/metadata/properties" xmlns:ns2="299da364-5bd6-4856-b54f-296f95f3dc71" xmlns:ns3="7fe59f34-55a4-4ccc-9a2c-36cfcecf2037" xmlns:ns4="f56f2f5c-3d56-4d70-9022-3d712eea6fdb" targetNamespace="http://schemas.microsoft.com/office/2006/metadata/properties" ma:root="true" ma:fieldsID="76e39bdae2ce33f747ddc2199e311f5b" ns2:_="" ns3:_="" ns4:_="">
    <xsd:import namespace="299da364-5bd6-4856-b54f-296f95f3dc71"/>
    <xsd:import namespace="7fe59f34-55a4-4ccc-9a2c-36cfcecf2037"/>
    <xsd:import namespace="f56f2f5c-3d56-4d70-9022-3d712eea6f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9da364-5bd6-4856-b54f-296f95f3dc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59f34-55a4-4ccc-9a2c-36cfcecf20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6f2f5c-3d56-4d70-9022-3d712eea6fdb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726DC3-2D22-4A21-AAB1-8BD4A825BB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9da364-5bd6-4856-b54f-296f95f3dc71"/>
    <ds:schemaRef ds:uri="7fe59f34-55a4-4ccc-9a2c-36cfcecf2037"/>
    <ds:schemaRef ds:uri="f56f2f5c-3d56-4d70-9022-3d712eea6f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6F96A0-A009-4EB0-9A3F-D6F81743887C}">
  <ds:schemaRefs>
    <ds:schemaRef ds:uri="http://purl.org/dc/dcmitype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5ab00cbc-cea4-4629-afa9-2a0ea5398757"/>
    <ds:schemaRef ds:uri="http://schemas.microsoft.com/office/infopath/2007/PartnerControls"/>
    <ds:schemaRef ds:uri="5be7b9e8-b6d5-4c5b-b5e2-73fe756bfb0a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BECC79B-6A26-4FAB-9034-859E0E3522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 para MIAD Virtual 2021</Template>
  <TotalTime>4214</TotalTime>
  <Words>1255</Words>
  <Application>Microsoft Macintosh PowerPoint</Application>
  <PresentationFormat>Personalizado</PresentationFormat>
  <Paragraphs>272</Paragraphs>
  <Slides>33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33</vt:i4>
      </vt:variant>
    </vt:vector>
  </HeadingPairs>
  <TitlesOfParts>
    <vt:vector size="48" baseType="lpstr">
      <vt:lpstr>Antenna Bold</vt:lpstr>
      <vt:lpstr>Antenna Light</vt:lpstr>
      <vt:lpstr>Antenna Regular</vt:lpstr>
      <vt:lpstr>Arial</vt:lpstr>
      <vt:lpstr>Calibri</vt:lpstr>
      <vt:lpstr>Cambria Math</vt:lpstr>
      <vt:lpstr>Proxima Nova</vt:lpstr>
      <vt:lpstr>Proxima Nova Semibold</vt:lpstr>
      <vt:lpstr>Rockwell</vt:lpstr>
      <vt:lpstr>Para recursos en general</vt:lpstr>
      <vt:lpstr>Encabezados y cierre</vt:lpstr>
      <vt:lpstr>Diseño para Videos</vt:lpstr>
      <vt:lpstr>1_Encabezados y cierre</vt:lpstr>
      <vt:lpstr>1_Para recursos en general</vt:lpstr>
      <vt:lpstr>1_Diseño para Videos</vt:lpstr>
      <vt:lpstr>Presentación de PowerPoint</vt:lpstr>
      <vt:lpstr>Machine Learning y Procesamiento de Lenguaje Natural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Astrid Johanna Bernal Rueda</dc:creator>
  <cp:lastModifiedBy>david zarruk</cp:lastModifiedBy>
  <cp:revision>42</cp:revision>
  <dcterms:created xsi:type="dcterms:W3CDTF">2021-05-20T22:41:38Z</dcterms:created>
  <dcterms:modified xsi:type="dcterms:W3CDTF">2026-03-27T17:53:19Z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2020-09-16T00:00:00Z</vt:filetime>
  </property>
  <property fmtid="{D5CDD505-2E9C-101B-9397-08002B2CF9AE}" pid="3" name="Creator">
    <vt:lpwstr>Adobe Illustrator 24.0 (Windows)</vt:lpwstr>
  </property>
  <property fmtid="{D5CDD505-2E9C-101B-9397-08002B2CF9AE}" pid="4" name="LastSaved">
    <vt:filetime>2020-09-16T00:00:00Z</vt:filetime>
  </property>
  <property fmtid="{D5CDD505-2E9C-101B-9397-08002B2CF9AE}" pid="5" name="ContentTypeId">
    <vt:lpwstr>0x010100F0B337A07470EA4D815EAD85B02F9412</vt:lpwstr>
  </property>
</Properties>
</file>